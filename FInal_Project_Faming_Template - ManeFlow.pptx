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5E7F30-C2A8-2424-E254-F073D21A4282}" v="6" dt="2025-12-16T23:28:44.922"/>
    <p1510:client id="{0EC10487-22F3-8457-DC35-7166A407425A}" v="368" dt="2025-12-18T22:02:56.6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9523B-7879-413D-B974-4EA8BAD8717A}"/>
              </a:ext>
            </a:extLst>
          </p:cNvPr>
          <p:cNvSpPr>
            <a:spLocks noGrp="1"/>
          </p:cNvSpPr>
          <p:nvPr>
            <p:ph type="ctrTitle"/>
          </p:nvPr>
        </p:nvSpPr>
        <p:spPr>
          <a:xfrm>
            <a:off x="1524000" y="1122363"/>
            <a:ext cx="9144000" cy="2387600"/>
          </a:xfrm>
        </p:spPr>
        <p:txBody>
          <a:bodyPr anchor="b"/>
          <a:lstStyle>
            <a:lvl1pPr algn="ctr">
              <a:defRPr sz="60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8425677C-C4F4-4003-8081-2CA323FE87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8EBDFB6-B844-410B-871F-A9547EC777E1}"/>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F125EE92-8782-4771-BBA2-385EC3B1CF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FC773E-0593-4E3E-A921-36876FFE5ABB}"/>
              </a:ext>
            </a:extLst>
          </p:cNvPr>
          <p:cNvSpPr>
            <a:spLocks noGrp="1"/>
          </p:cNvSpPr>
          <p:nvPr>
            <p:ph type="sldNum" sz="quarter" idx="12"/>
          </p:nvPr>
        </p:nvSpPr>
        <p:spPr/>
        <p:txBody>
          <a:bodyPr/>
          <a:lstStyle/>
          <a:p>
            <a:fld id="{95C122ED-C147-4045-89CD-7A79E332317A}" type="slidenum">
              <a:rPr lang="en-US" smtClean="0"/>
              <a:t>‹#›</a:t>
            </a:fld>
            <a:endParaRPr lang="en-US"/>
          </a:p>
        </p:txBody>
      </p:sp>
      <p:pic>
        <p:nvPicPr>
          <p:cNvPr id="8" name="Picture 7" descr="A picture containing food&#10;&#10;Description automatically generated">
            <a:extLst>
              <a:ext uri="{FF2B5EF4-FFF2-40B4-BE49-F238E27FC236}">
                <a16:creationId xmlns:a16="http://schemas.microsoft.com/office/drawing/2014/main" id="{C9C71CC2-94AB-45BF-B83B-6D0466401FA9}"/>
              </a:ext>
            </a:extLst>
          </p:cNvPr>
          <p:cNvPicPr>
            <a:picLocks noChangeAspect="1"/>
          </p:cNvPicPr>
          <p:nvPr userDrawn="1"/>
        </p:nvPicPr>
        <p:blipFill>
          <a:blip r:embed="rId2">
            <a:alphaModFix amt="65000"/>
            <a:extLst>
              <a:ext uri="{28A0092B-C50C-407E-A947-70E740481C1C}">
                <a14:useLocalDpi xmlns:a14="http://schemas.microsoft.com/office/drawing/2010/main" val="0"/>
              </a:ext>
            </a:extLst>
          </a:blip>
          <a:stretch>
            <a:fillRect/>
          </a:stretch>
        </p:blipFill>
        <p:spPr>
          <a:xfrm>
            <a:off x="4927011" y="4160648"/>
            <a:ext cx="2337977" cy="2094067"/>
          </a:xfrm>
          <a:prstGeom prst="rect">
            <a:avLst/>
          </a:prstGeom>
        </p:spPr>
      </p:pic>
    </p:spTree>
    <p:extLst>
      <p:ext uri="{BB962C8B-B14F-4D97-AF65-F5344CB8AC3E}">
        <p14:creationId xmlns:p14="http://schemas.microsoft.com/office/powerpoint/2010/main" val="2612379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FE9E-2EAE-47F7-9BCF-8CE6618938C9}"/>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B0DA83C7-1BAA-4632-825D-9DCD8B8E62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7E41AA-741F-4EC6-A497-D1DEB1011FDA}"/>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5366A5DD-EB46-4E38-9B93-2ED8D93DF6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5B6A07-A0C0-4565-90CD-83F9F70E5348}"/>
              </a:ext>
            </a:extLst>
          </p:cNvPr>
          <p:cNvSpPr>
            <a:spLocks noGrp="1"/>
          </p:cNvSpPr>
          <p:nvPr>
            <p:ph type="sldNum" sz="quarter" idx="12"/>
          </p:nvPr>
        </p:nvSpPr>
        <p:spPr/>
        <p:txBody>
          <a:bodyPr/>
          <a:lstStyle/>
          <a:p>
            <a:fld id="{95C122ED-C147-4045-89CD-7A79E332317A}" type="slidenum">
              <a:rPr lang="en-US" smtClean="0"/>
              <a:t>‹#›</a:t>
            </a:fld>
            <a:endParaRPr lang="en-US"/>
          </a:p>
        </p:txBody>
      </p:sp>
      <p:pic>
        <p:nvPicPr>
          <p:cNvPr id="8" name="Picture 7" descr="A picture containing food&#10;&#10;Description automatically generated">
            <a:extLst>
              <a:ext uri="{FF2B5EF4-FFF2-40B4-BE49-F238E27FC236}">
                <a16:creationId xmlns:a16="http://schemas.microsoft.com/office/drawing/2014/main" id="{C30AFC61-666A-4D08-AE3C-1B79355EEE5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00905" y="6176962"/>
            <a:ext cx="760362" cy="681037"/>
          </a:xfrm>
          <a:prstGeom prst="rect">
            <a:avLst/>
          </a:prstGeom>
        </p:spPr>
      </p:pic>
    </p:spTree>
    <p:extLst>
      <p:ext uri="{BB962C8B-B14F-4D97-AF65-F5344CB8AC3E}">
        <p14:creationId xmlns:p14="http://schemas.microsoft.com/office/powerpoint/2010/main" val="4095702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21F54-45A7-436C-80E0-91459F5EB1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856C5C-9625-46C6-8DA5-CF58A2EE5F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9031E8-BC8F-4753-ADB3-A0C48167311C}"/>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2A239F8A-1350-48EF-BD37-666B5D1EF5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09524A-BFD0-4E76-8617-E50C51C351AA}"/>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1793456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2AE11-2AFB-47A4-890C-4991DBBD22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0517F6-26BF-477B-80F4-8E1AF66459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706272-9F06-4612-8B6C-5BF50CEC5F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41C4EC-9929-4DCE-8A0D-128E9BE0D96F}"/>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6" name="Footer Placeholder 5">
            <a:extLst>
              <a:ext uri="{FF2B5EF4-FFF2-40B4-BE49-F238E27FC236}">
                <a16:creationId xmlns:a16="http://schemas.microsoft.com/office/drawing/2014/main" id="{1CEDA14C-6B80-472E-AE8A-5D71B925C6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770449-5253-4B20-A1CC-AC3677333F40}"/>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1059888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D58E8-F72B-4C5B-B31E-C39070112F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6EEA8A5-4B13-4A06-872D-F1A3232627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5C7779-F8D2-4F64-8095-FDFC56CDB0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13D80E-A482-4598-B0B0-6FEE61ED80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345DEA-EBE2-463A-92B3-1568092887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32383A-BEA2-439D-9016-2DE5062144BB}"/>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8" name="Footer Placeholder 7">
            <a:extLst>
              <a:ext uri="{FF2B5EF4-FFF2-40B4-BE49-F238E27FC236}">
                <a16:creationId xmlns:a16="http://schemas.microsoft.com/office/drawing/2014/main" id="{00DF060A-F869-4CFC-BEC9-436E45FDCE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F742A3-A4B8-4F34-A226-2F317C64C610}"/>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1742312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B7E50-68E4-4AEB-AD2D-D5ED555A31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B69AFB-C8BF-4C66-A4EA-4147AED45409}"/>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4" name="Footer Placeholder 3">
            <a:extLst>
              <a:ext uri="{FF2B5EF4-FFF2-40B4-BE49-F238E27FC236}">
                <a16:creationId xmlns:a16="http://schemas.microsoft.com/office/drawing/2014/main" id="{5C105508-0742-43E9-BA29-7E405D3D41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3C142E-3D1A-427B-BA6B-7A453D4ED1FB}"/>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2716917065"/>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6004DB-86FF-4B67-B3C9-DC35E0ECD4E4}"/>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3" name="Footer Placeholder 2">
            <a:extLst>
              <a:ext uri="{FF2B5EF4-FFF2-40B4-BE49-F238E27FC236}">
                <a16:creationId xmlns:a16="http://schemas.microsoft.com/office/drawing/2014/main" id="{D86352AE-C1A3-4B2F-8F0B-8EABFF9C55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106BA80-BCAF-48E5-8D07-8A059E560390}"/>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3516406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7D035-D8A0-4FC2-8F79-526FBF59B4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7F7B67-0FB4-4620-BBDF-658857E7B5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D8C51-DF6F-46A4-9232-C95714472E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4AC53C-DB51-4743-9D99-B8CD2B2524AF}"/>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6" name="Footer Placeholder 5">
            <a:extLst>
              <a:ext uri="{FF2B5EF4-FFF2-40B4-BE49-F238E27FC236}">
                <a16:creationId xmlns:a16="http://schemas.microsoft.com/office/drawing/2014/main" id="{864DBC3D-49AC-4011-B820-F3F7EA5185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9B0DDC-539E-4D00-84DA-89041EC64255}"/>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344479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DBBC2-B05A-46ED-A241-BA9E3E8802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B6BAD30-E81E-48D0-B564-9BBAA44091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80F4405-7CFA-4985-B5B7-6189705A0A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DC5395-E644-4646-8327-ED7327EE59E7}"/>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6" name="Footer Placeholder 5">
            <a:extLst>
              <a:ext uri="{FF2B5EF4-FFF2-40B4-BE49-F238E27FC236}">
                <a16:creationId xmlns:a16="http://schemas.microsoft.com/office/drawing/2014/main" id="{870660FA-4807-411B-BA30-E201D82861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0283C1-EF9F-4823-A56C-8799FE4DC975}"/>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1984709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D5838-557A-4543-B7AE-4E7E629898C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A3BF8E1-259C-46CA-B233-0F947B7C7B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ADB938-4651-49A6-AD85-87C5B7F2D9FA}"/>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A04DE878-AAF8-481F-9EB6-7B3F33BB36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72BD8B-7F3E-4F5D-A953-764469667066}"/>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2250029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DDCDF4-4D7A-4375-A309-354D24F5A73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573EB7-28A0-4361-9CDB-35C28ADE8A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1F066A-E6EE-4F7B-8FC5-BE9B2CAB186F}"/>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E8B6381A-C118-4E62-BF37-EA0EBD6269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CEB07-AD06-45B6-9855-C8B2A45EE0A0}"/>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4115568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7978F9-BCFE-4189-A0A8-446CC99C09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51A654-BA2D-4FB0-851C-76683F8C5A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05C5A9-AB1C-4D1E-873E-AB223D54F2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1BA9A757-4B5D-46F4-872F-32AE4B103C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DCCE750-2D47-4D77-93E0-297723B38C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C122ED-C147-4045-89CD-7A79E332317A}" type="slidenum">
              <a:rPr lang="en-US" smtClean="0"/>
              <a:t>‹#›</a:t>
            </a:fld>
            <a:endParaRPr lang="en-US"/>
          </a:p>
        </p:txBody>
      </p:sp>
      <p:pic>
        <p:nvPicPr>
          <p:cNvPr id="8" name="Picture 7">
            <a:extLst>
              <a:ext uri="{FF2B5EF4-FFF2-40B4-BE49-F238E27FC236}">
                <a16:creationId xmlns:a16="http://schemas.microsoft.com/office/drawing/2014/main" id="{09F43C55-1C86-4C11-A83E-15C62D474657}"/>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056"/>
            <a:ext cx="12192000" cy="298450"/>
          </a:xfrm>
          <a:prstGeom prst="rect">
            <a:avLst/>
          </a:prstGeom>
        </p:spPr>
      </p:pic>
    </p:spTree>
    <p:extLst>
      <p:ext uri="{BB962C8B-B14F-4D97-AF65-F5344CB8AC3E}">
        <p14:creationId xmlns:p14="http://schemas.microsoft.com/office/powerpoint/2010/main" val="4199795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D9CD8-14E7-4A95-99DB-B02DBD937ACA}"/>
              </a:ext>
            </a:extLst>
          </p:cNvPr>
          <p:cNvSpPr>
            <a:spLocks noGrp="1"/>
          </p:cNvSpPr>
          <p:nvPr>
            <p:ph type="ctrTitle"/>
          </p:nvPr>
        </p:nvSpPr>
        <p:spPr>
          <a:xfrm>
            <a:off x="1524000" y="368384"/>
            <a:ext cx="9144000" cy="2387600"/>
          </a:xfrm>
        </p:spPr>
        <p:txBody>
          <a:bodyPr/>
          <a:lstStyle/>
          <a:p>
            <a:r>
              <a:rPr lang="en-US" dirty="0">
                <a:solidFill>
                  <a:srgbClr val="002060"/>
                </a:solidFill>
                <a:ea typeface="Calibri Light"/>
                <a:cs typeface="Calibri Light"/>
              </a:rPr>
              <a:t>Joycelyn Allan</a:t>
            </a:r>
            <a:endParaRPr lang="en-US" dirty="0"/>
          </a:p>
        </p:txBody>
      </p:sp>
      <p:sp>
        <p:nvSpPr>
          <p:cNvPr id="3" name="Subtitle 2">
            <a:extLst>
              <a:ext uri="{FF2B5EF4-FFF2-40B4-BE49-F238E27FC236}">
                <a16:creationId xmlns:a16="http://schemas.microsoft.com/office/drawing/2014/main" id="{ED535F16-4A24-4AED-8DB2-DAA4BCFBE2CF}"/>
              </a:ext>
            </a:extLst>
          </p:cNvPr>
          <p:cNvSpPr>
            <a:spLocks noGrp="1"/>
          </p:cNvSpPr>
          <p:nvPr>
            <p:ph type="subTitle" idx="1"/>
          </p:nvPr>
        </p:nvSpPr>
        <p:spPr/>
        <p:txBody>
          <a:bodyPr vert="horz" lIns="91440" tIns="45720" rIns="91440" bIns="45720" rtlCol="0" anchor="t">
            <a:normAutofit/>
          </a:bodyPr>
          <a:lstStyle/>
          <a:p>
            <a:r>
              <a:rPr lang="en-US"/>
              <a:t>Web Tech Fall 2025 Final Exams</a:t>
            </a:r>
          </a:p>
        </p:txBody>
      </p:sp>
    </p:spTree>
    <p:extLst>
      <p:ext uri="{BB962C8B-B14F-4D97-AF65-F5344CB8AC3E}">
        <p14:creationId xmlns:p14="http://schemas.microsoft.com/office/powerpoint/2010/main" val="1741095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F5CAFA-01D7-4C9A-B6E2-3E744EA7D38B}"/>
              </a:ext>
            </a:extLst>
          </p:cNvPr>
          <p:cNvSpPr>
            <a:spLocks noGrp="1"/>
          </p:cNvSpPr>
          <p:nvPr>
            <p:ph type="title"/>
          </p:nvPr>
        </p:nvSpPr>
        <p:spPr>
          <a:xfrm>
            <a:off x="831850" y="797485"/>
            <a:ext cx="10515600" cy="3764990"/>
          </a:xfrm>
        </p:spPr>
        <p:txBody>
          <a:bodyPr anchor="b">
            <a:normAutofit/>
          </a:bodyPr>
          <a:lstStyle/>
          <a:p>
            <a:br>
              <a:rPr lang="en-US" sz="4200" i="1">
                <a:effectLst/>
              </a:rPr>
            </a:br>
            <a:endParaRPr lang="en-US" sz="4200"/>
          </a:p>
        </p:txBody>
      </p:sp>
      <p:sp>
        <p:nvSpPr>
          <p:cNvPr id="9" name="Text Placeholder 2">
            <a:extLst>
              <a:ext uri="{FF2B5EF4-FFF2-40B4-BE49-F238E27FC236}">
                <a16:creationId xmlns:a16="http://schemas.microsoft.com/office/drawing/2014/main" id="{E8ED7AE9-F1AD-4DAF-AD81-ED38A088D24C}"/>
              </a:ext>
            </a:extLst>
          </p:cNvPr>
          <p:cNvSpPr>
            <a:spLocks noGrp="1"/>
          </p:cNvSpPr>
          <p:nvPr>
            <p:ph type="body" idx="1"/>
          </p:nvPr>
        </p:nvSpPr>
        <p:spPr>
          <a:xfrm>
            <a:off x="831850" y="461963"/>
            <a:ext cx="10515600" cy="4732685"/>
          </a:xfrm>
        </p:spPr>
        <p:txBody>
          <a:bodyPr vert="horz" lIns="91440" tIns="45720" rIns="91440" bIns="45720" rtlCol="0" anchor="t">
            <a:normAutofit fontScale="92500" lnSpcReduction="20000"/>
          </a:bodyPr>
          <a:lstStyle/>
          <a:p>
            <a:r>
              <a:rPr lang="en-US" dirty="0">
                <a:latin typeface="Baskerville Old Face"/>
                <a:ea typeface="Calibri"/>
                <a:cs typeface="Calibri"/>
              </a:rPr>
              <a:t>                                                    </a:t>
            </a:r>
            <a:r>
              <a:rPr lang="en-US" sz="4000" i="1">
                <a:solidFill>
                  <a:schemeClr val="tx1">
                    <a:lumMod val="95000"/>
                    <a:lumOff val="5000"/>
                  </a:schemeClr>
                </a:solidFill>
                <a:latin typeface="Baskerville Old Face"/>
                <a:ea typeface="Calibri"/>
                <a:cs typeface="Calibri"/>
              </a:rPr>
              <a:t>Project Description</a:t>
            </a:r>
          </a:p>
          <a:p>
            <a:endParaRPr lang="en-US" sz="4000" i="1" dirty="0">
              <a:solidFill>
                <a:schemeClr val="tx1">
                  <a:lumMod val="95000"/>
                  <a:lumOff val="5000"/>
                </a:schemeClr>
              </a:solidFill>
              <a:latin typeface="Baskerville Old Face"/>
              <a:ea typeface="+mn-lt"/>
              <a:cs typeface="+mn-lt"/>
            </a:endParaRPr>
          </a:p>
          <a:p>
            <a:r>
              <a:rPr lang="en-US" sz="2200">
                <a:solidFill>
                  <a:srgbClr val="000000"/>
                </a:solidFill>
                <a:latin typeface="Aptos"/>
                <a:ea typeface="+mn-lt"/>
                <a:cs typeface="+mn-lt"/>
              </a:rPr>
              <a:t>ManeFlow is an innovative app primarily designed to empower women on their hair growth journey, while also welcoming male users. This app serves as a comprehensive resource for all things related to hair growth. Within its user-friendly interface, you will discover a wealth of information about various hair types and effective methods to promote growth.</a:t>
            </a:r>
            <a:endParaRPr lang="en-US" sz="2200">
              <a:solidFill>
                <a:srgbClr val="000000"/>
              </a:solidFill>
              <a:latin typeface="Aptos"/>
            </a:endParaRPr>
          </a:p>
          <a:p>
            <a:endParaRPr lang="en-US" sz="2200" dirty="0">
              <a:solidFill>
                <a:srgbClr val="000000"/>
              </a:solidFill>
              <a:latin typeface="Aptos"/>
              <a:ea typeface="+mn-lt"/>
              <a:cs typeface="+mn-lt"/>
            </a:endParaRPr>
          </a:p>
          <a:p>
            <a:r>
              <a:rPr lang="en-US" sz="2200">
                <a:solidFill>
                  <a:srgbClr val="000000"/>
                </a:solidFill>
                <a:latin typeface="Aptos"/>
                <a:ea typeface="+mn-lt"/>
                <a:cs typeface="+mn-lt"/>
              </a:rPr>
              <a:t>Users can easily input their unique hair characteristics into the app, which then generates tailored recommendations specifically suited to their needs. From personalized growth strategies to ideal hair care products, ManeFlow ensures that each user receives expert guidance catered to their specific hair type. Additionally, the app identifies potential pitfalls to avoid, making it an indispensable tool for anyone looking to enhance their hair health and achieve luscious locks.</a:t>
            </a:r>
            <a:endParaRPr lang="en-US" sz="2200">
              <a:solidFill>
                <a:srgbClr val="000000"/>
              </a:solidFill>
              <a:latin typeface="Aptos"/>
            </a:endParaRPr>
          </a:p>
          <a:p>
            <a:br>
              <a:rPr lang="en-US" dirty="0"/>
            </a:br>
            <a:endParaRPr lang="en-US" dirty="0"/>
          </a:p>
          <a:p>
            <a:endParaRPr lang="en-US" sz="1600" dirty="0">
              <a:solidFill>
                <a:schemeClr val="tx1">
                  <a:lumMod val="95000"/>
                  <a:lumOff val="5000"/>
                </a:schemeClr>
              </a:solidFill>
              <a:ea typeface="+mn-lt"/>
              <a:cs typeface="+mn-lt"/>
            </a:endParaRPr>
          </a:p>
          <a:p>
            <a:endParaRPr lang="en-US" sz="1800" dirty="0">
              <a:solidFill>
                <a:schemeClr val="tx1">
                  <a:lumMod val="95000"/>
                  <a:lumOff val="5000"/>
                </a:schemeClr>
              </a:solidFill>
              <a:latin typeface="Times New Roman"/>
              <a:ea typeface="Calibri"/>
              <a:cs typeface="Times New Roman"/>
            </a:endParaRPr>
          </a:p>
          <a:p>
            <a:endParaRPr lang="en-US" sz="4000" b="1" i="1" u="sng">
              <a:solidFill>
                <a:schemeClr val="tx1">
                  <a:lumMod val="95000"/>
                  <a:lumOff val="5000"/>
                </a:schemeClr>
              </a:solidFill>
              <a:latin typeface="Baskerville Old Face"/>
              <a:ea typeface="Calibri"/>
              <a:cs typeface="Calibri"/>
            </a:endParaRPr>
          </a:p>
          <a:p>
            <a:endParaRPr lang="en-US" sz="4000" b="1" i="1" u="sng">
              <a:solidFill>
                <a:schemeClr val="tx1">
                  <a:lumMod val="95000"/>
                  <a:lumOff val="5000"/>
                </a:schemeClr>
              </a:solidFill>
              <a:latin typeface="Baskerville Old Face"/>
              <a:ea typeface="+mn-lt"/>
              <a:cs typeface="+mn-lt"/>
            </a:endParaRPr>
          </a:p>
          <a:p>
            <a:endParaRPr lang="en-US">
              <a:solidFill>
                <a:srgbClr val="0D0D0D"/>
              </a:solidFill>
              <a:ea typeface="Calibri"/>
              <a:cs typeface="Calibri"/>
            </a:endParaRPr>
          </a:p>
          <a:p>
            <a:endParaRPr lang="en-US">
              <a:solidFill>
                <a:srgbClr val="0D0D0D"/>
              </a:solidFill>
              <a:ea typeface="Calibri"/>
              <a:cs typeface="Calibri"/>
            </a:endParaRPr>
          </a:p>
          <a:p>
            <a:pPr algn="ctr"/>
            <a:endParaRPr lang="en-US" sz="3200">
              <a:solidFill>
                <a:schemeClr val="tx1"/>
              </a:solidFill>
              <a:ea typeface="Calibri"/>
              <a:cs typeface="Calibri"/>
            </a:endParaRPr>
          </a:p>
        </p:txBody>
      </p:sp>
    </p:spTree>
    <p:extLst>
      <p:ext uri="{BB962C8B-B14F-4D97-AF65-F5344CB8AC3E}">
        <p14:creationId xmlns:p14="http://schemas.microsoft.com/office/powerpoint/2010/main" val="2238724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23;p26">
            <a:extLst>
              <a:ext uri="{FF2B5EF4-FFF2-40B4-BE49-F238E27FC236}">
                <a16:creationId xmlns:a16="http://schemas.microsoft.com/office/drawing/2014/main" id="{57EC8ECB-684B-4A65-B563-F2A77E7CD0CA}"/>
              </a:ext>
            </a:extLst>
          </p:cNvPr>
          <p:cNvSpPr/>
          <p:nvPr/>
        </p:nvSpPr>
        <p:spPr>
          <a:xfrm>
            <a:off x="5473304" y="991951"/>
            <a:ext cx="3277265" cy="4984309"/>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7" name="Google Shape;124;p26">
            <a:extLst>
              <a:ext uri="{FF2B5EF4-FFF2-40B4-BE49-F238E27FC236}">
                <a16:creationId xmlns:a16="http://schemas.microsoft.com/office/drawing/2014/main" id="{45854F39-C3A4-489F-B694-859EFBCDAE4E}"/>
              </a:ext>
            </a:extLst>
          </p:cNvPr>
          <p:cNvSpPr txBox="1"/>
          <p:nvPr/>
        </p:nvSpPr>
        <p:spPr>
          <a:xfrm>
            <a:off x="5475987" y="984485"/>
            <a:ext cx="3273822" cy="5094952"/>
          </a:xfrm>
          <a:prstGeom prst="rect">
            <a:avLst/>
          </a:prstGeom>
          <a:solidFill>
            <a:schemeClr val="lt1">
              <a:alpha val="7176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PAYOFF: </a:t>
            </a:r>
            <a:endParaRPr lang="en-US" sz="1400">
              <a:solidFill>
                <a:schemeClr val="dk1"/>
              </a:solidFill>
              <a:latin typeface="Calibri"/>
              <a:ea typeface="Calibri"/>
              <a:cs typeface="Calibri"/>
            </a:endParaRPr>
          </a:p>
          <a:p>
            <a:endParaRPr lang="en-US" sz="1200" dirty="0">
              <a:solidFill>
                <a:schemeClr val="dk1"/>
              </a:solidFill>
              <a:ea typeface="+mn-lt"/>
              <a:cs typeface="+mn-lt"/>
            </a:endParaRPr>
          </a:p>
          <a:p>
            <a:pPr marL="285750" indent="-285750">
              <a:buFont typeface="Arial"/>
              <a:buChar char="•"/>
            </a:pPr>
            <a:r>
              <a:rPr lang="en-US" sz="1400">
                <a:solidFill>
                  <a:schemeClr val="dk1"/>
                </a:solidFill>
                <a:ea typeface="+mn-lt"/>
                <a:cs typeface="+mn-lt"/>
              </a:rPr>
              <a:t>Opening screen after login : ManeFlow collects hair details from end users, including hair type, concerns, and goals, through structured forms on the website.</a:t>
            </a:r>
          </a:p>
          <a:p>
            <a:pPr marL="285750" indent="-285750">
              <a:buFont typeface="Arial"/>
              <a:buChar char="•"/>
            </a:pPr>
            <a:br>
              <a:rPr lang="en-US" sz="1400" dirty="0">
                <a:ea typeface="+mn-lt"/>
                <a:cs typeface="+mn-lt"/>
              </a:rPr>
            </a:br>
            <a:r>
              <a:rPr lang="en-US" sz="1400">
                <a:solidFill>
                  <a:schemeClr val="dk1"/>
                </a:solidFill>
                <a:ea typeface="+mn-lt"/>
                <a:cs typeface="+mn-lt"/>
              </a:rPr>
              <a:t> Using this information, the system generates personalized hair care routines, growth forecasts, protective styles, educational content, growth methods, product recommendations, and identifies harmful practices to avoid.</a:t>
            </a:r>
          </a:p>
          <a:p>
            <a:br>
              <a:rPr lang="en-US" sz="1400" dirty="0">
                <a:ea typeface="+mn-lt"/>
                <a:cs typeface="+mn-lt"/>
              </a:rPr>
            </a:br>
            <a:r>
              <a:rPr lang="en-US" sz="1400" dirty="0">
                <a:solidFill>
                  <a:schemeClr val="dk1"/>
                </a:solidFill>
                <a:ea typeface="+mn-lt"/>
                <a:cs typeface="+mn-lt"/>
              </a:rPr>
              <a:t> </a:t>
            </a:r>
            <a:endParaRPr lang="en-US" sz="1400" dirty="0">
              <a:solidFill>
                <a:schemeClr val="dk1"/>
              </a:solidFill>
              <a:ea typeface="Calibri"/>
              <a:cs typeface="Calibri"/>
            </a:endParaRPr>
          </a:p>
          <a:p>
            <a:endParaRPr lang="en-US" sz="1000" dirty="0">
              <a:solidFill>
                <a:schemeClr val="dk1"/>
              </a:solidFill>
              <a:latin typeface="Times New Roman"/>
              <a:ea typeface="Calibri"/>
              <a:cs typeface="Times New Roman"/>
            </a:endParaRPr>
          </a:p>
          <a:p>
            <a:endParaRPr lang="en-US" sz="900">
              <a:solidFill>
                <a:schemeClr val="dk1"/>
              </a:solidFill>
              <a:latin typeface="Times New Roman"/>
              <a:ea typeface="Calibri"/>
              <a:cs typeface="Times New Roman"/>
            </a:endParaRPr>
          </a:p>
          <a:p>
            <a:endParaRPr lang="en-US" sz="800">
              <a:solidFill>
                <a:schemeClr val="dk1"/>
              </a:solidFill>
              <a:ea typeface="Calibri"/>
              <a:cs typeface="Calibri"/>
            </a:endParaRPr>
          </a:p>
          <a:p>
            <a:endParaRPr lang="en-US" sz="800">
              <a:solidFill>
                <a:schemeClr val="dk1"/>
              </a:solidFill>
              <a:ea typeface="Calibri"/>
              <a:cs typeface="Calibri"/>
            </a:endParaRPr>
          </a:p>
        </p:txBody>
      </p:sp>
      <p:sp>
        <p:nvSpPr>
          <p:cNvPr id="9" name="Google Shape;125;p26">
            <a:extLst>
              <a:ext uri="{FF2B5EF4-FFF2-40B4-BE49-F238E27FC236}">
                <a16:creationId xmlns:a16="http://schemas.microsoft.com/office/drawing/2014/main" id="{2EB20A92-289A-4F1B-83EA-557EBD087A84}"/>
              </a:ext>
            </a:extLst>
          </p:cNvPr>
          <p:cNvSpPr/>
          <p:nvPr/>
        </p:nvSpPr>
        <p:spPr>
          <a:xfrm>
            <a:off x="454462" y="1097286"/>
            <a:ext cx="2406188" cy="4991874"/>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 name="Google Shape;127;p26">
            <a:extLst>
              <a:ext uri="{FF2B5EF4-FFF2-40B4-BE49-F238E27FC236}">
                <a16:creationId xmlns:a16="http://schemas.microsoft.com/office/drawing/2014/main" id="{ECAEDEC5-3BA7-4814-897E-199FE3D53B02}"/>
              </a:ext>
            </a:extLst>
          </p:cNvPr>
          <p:cNvSpPr/>
          <p:nvPr/>
        </p:nvSpPr>
        <p:spPr>
          <a:xfrm>
            <a:off x="9015995" y="978100"/>
            <a:ext cx="2485932" cy="510706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 name="Google Shape;128;p26">
            <a:extLst>
              <a:ext uri="{FF2B5EF4-FFF2-40B4-BE49-F238E27FC236}">
                <a16:creationId xmlns:a16="http://schemas.microsoft.com/office/drawing/2014/main" id="{B0376552-4BDD-431F-A63E-87A711EAE56C}"/>
              </a:ext>
            </a:extLst>
          </p:cNvPr>
          <p:cNvSpPr txBox="1">
            <a:spLocks/>
          </p:cNvSpPr>
          <p:nvPr/>
        </p:nvSpPr>
        <p:spPr>
          <a:xfrm>
            <a:off x="0" y="549275"/>
            <a:ext cx="11360150" cy="852488"/>
          </a:xfrm>
          <a:prstGeom prst="rect">
            <a:avLst/>
          </a:prstGeom>
          <a:noFill/>
          <a:ln>
            <a:noFill/>
          </a:ln>
        </p:spPr>
        <p:txBody>
          <a:bodyPr spcFirstLastPara="1" vert="horz" wrap="square" lIns="91425" tIns="45700" rIns="91425" bIns="4570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dk1"/>
              </a:buClr>
              <a:buSzPts val="4400"/>
              <a:buFont typeface="Calibri"/>
              <a:buNone/>
            </a:pPr>
            <a:r>
              <a:rPr lang="en-US">
                <a:solidFill>
                  <a:schemeClr val="dk1"/>
                </a:solidFill>
                <a:latin typeface="Calibri"/>
                <a:ea typeface="Calibri"/>
                <a:cs typeface="Calibri"/>
                <a:sym typeface="Calibri"/>
              </a:rPr>
              <a:t> </a:t>
            </a:r>
          </a:p>
        </p:txBody>
      </p:sp>
      <p:sp>
        <p:nvSpPr>
          <p:cNvPr id="25" name="Google Shape;133;p26">
            <a:extLst>
              <a:ext uri="{FF2B5EF4-FFF2-40B4-BE49-F238E27FC236}">
                <a16:creationId xmlns:a16="http://schemas.microsoft.com/office/drawing/2014/main" id="{3F4E89E7-ABA2-466A-B1F8-0CA4BEBEDA3D}"/>
              </a:ext>
            </a:extLst>
          </p:cNvPr>
          <p:cNvSpPr txBox="1"/>
          <p:nvPr/>
        </p:nvSpPr>
        <p:spPr>
          <a:xfrm>
            <a:off x="457717" y="1073296"/>
            <a:ext cx="2403214" cy="5021560"/>
          </a:xfrm>
          <a:prstGeom prst="rect">
            <a:avLst/>
          </a:prstGeom>
          <a:noFill/>
          <a:ln>
            <a:noFill/>
          </a:ln>
        </p:spPr>
        <p:txBody>
          <a:bodyPr spcFirstLastPara="1" wrap="square" lIns="91425" tIns="45700" rIns="91425" bIns="45700" anchor="t" anchorCtr="0">
            <a:noAutofit/>
          </a:bodyPr>
          <a:lstStyle/>
          <a:p>
            <a:r>
              <a:rPr lang="en-US" sz="1400" b="0" i="0" u="none" strike="noStrike" cap="none">
                <a:solidFill>
                  <a:schemeClr val="dk1"/>
                </a:solidFill>
                <a:latin typeface="Baskerville Old Face"/>
                <a:ea typeface="Calibri"/>
                <a:cs typeface="Calibri"/>
                <a:sym typeface="Calibri"/>
              </a:rPr>
              <a:t>PERSONA</a:t>
            </a:r>
            <a:r>
              <a:rPr lang="en-US" sz="1400">
                <a:solidFill>
                  <a:schemeClr val="dk1"/>
                </a:solidFill>
                <a:latin typeface="Baskerville Old Face"/>
                <a:ea typeface="Calibri"/>
                <a:cs typeface="Calibri"/>
                <a:sym typeface="Calibri"/>
              </a:rPr>
              <a:t>(s))</a:t>
            </a:r>
            <a:endParaRPr lang="en-US" sz="1400">
              <a:solidFill>
                <a:schemeClr val="dk1"/>
              </a:solidFill>
              <a:latin typeface="Baskerville Old Face"/>
              <a:ea typeface="Calibri"/>
              <a:cs typeface="Calibri"/>
            </a:endParaRPr>
          </a:p>
          <a:p>
            <a:endParaRPr lang="en-US" sz="1200" dirty="0">
              <a:solidFill>
                <a:schemeClr val="dk1"/>
              </a:solidFill>
              <a:latin typeface="Baskerville Old Face"/>
              <a:ea typeface="+mn-lt"/>
              <a:cs typeface="+mn-lt"/>
            </a:endParaRPr>
          </a:p>
          <a:p>
            <a:r>
              <a:rPr lang="en-US" sz="1200" b="1">
                <a:solidFill>
                  <a:schemeClr val="dk1"/>
                </a:solidFill>
                <a:latin typeface="Baskerville Old Face"/>
                <a:ea typeface="+mn-lt"/>
                <a:cs typeface="+mn-lt"/>
              </a:rPr>
              <a:t>About </a:t>
            </a:r>
            <a:r>
              <a:rPr lang="en-US" sz="1200">
                <a:solidFill>
                  <a:schemeClr val="dk1"/>
                </a:solidFill>
                <a:latin typeface="Baskerville Old Face"/>
                <a:ea typeface="+mn-lt"/>
                <a:cs typeface="+mn-lt"/>
              </a:rPr>
              <a:t>:</a:t>
            </a:r>
            <a:endParaRPr lang="en-US" sz="1200" dirty="0">
              <a:solidFill>
                <a:schemeClr val="dk1"/>
              </a:solidFill>
              <a:latin typeface="Baskerville Old Face"/>
              <a:ea typeface="+mn-lt"/>
              <a:cs typeface="+mn-lt"/>
            </a:endParaRPr>
          </a:p>
          <a:p>
            <a:r>
              <a:rPr lang="en-US" sz="1200">
                <a:solidFill>
                  <a:schemeClr val="dk1"/>
                </a:solidFill>
                <a:ea typeface="+mn-lt"/>
                <a:cs typeface="+mn-lt"/>
              </a:rPr>
              <a:t>Name : Ama Mensah</a:t>
            </a:r>
            <a:endParaRPr lang="en-US">
              <a:solidFill>
                <a:schemeClr val="dk1"/>
              </a:solidFill>
            </a:endParaRPr>
          </a:p>
          <a:p>
            <a:r>
              <a:rPr lang="en-US" sz="1200">
                <a:solidFill>
                  <a:schemeClr val="dk1"/>
                </a:solidFill>
                <a:ea typeface="+mn-lt"/>
                <a:cs typeface="+mn-lt"/>
              </a:rPr>
              <a:t>Age : 23 years</a:t>
            </a:r>
            <a:endParaRPr lang="en-US" sz="1200" dirty="0">
              <a:solidFill>
                <a:schemeClr val="dk1"/>
              </a:solidFill>
              <a:ea typeface="+mn-lt"/>
              <a:cs typeface="+mn-lt"/>
            </a:endParaRPr>
          </a:p>
          <a:p>
            <a:r>
              <a:rPr lang="en-US" sz="1200">
                <a:solidFill>
                  <a:schemeClr val="dk1"/>
                </a:solidFill>
                <a:ea typeface="+mn-lt"/>
                <a:cs typeface="+mn-lt"/>
              </a:rPr>
              <a:t>Gender : Female</a:t>
            </a:r>
            <a:endParaRPr lang="en-US" sz="1200" dirty="0">
              <a:solidFill>
                <a:schemeClr val="dk1"/>
              </a:solidFill>
              <a:ea typeface="+mn-lt"/>
              <a:cs typeface="+mn-lt"/>
            </a:endParaRPr>
          </a:p>
          <a:p>
            <a:r>
              <a:rPr lang="en-US" sz="1200">
                <a:solidFill>
                  <a:schemeClr val="dk1"/>
                </a:solidFill>
                <a:ea typeface="+mn-lt"/>
                <a:cs typeface="+mn-lt"/>
              </a:rPr>
              <a:t>Occupation : Student</a:t>
            </a:r>
            <a:endParaRPr lang="en-US" sz="1200" dirty="0">
              <a:solidFill>
                <a:schemeClr val="dk1"/>
              </a:solidFill>
              <a:ea typeface="+mn-lt"/>
              <a:cs typeface="+mn-lt"/>
            </a:endParaRPr>
          </a:p>
          <a:p>
            <a:r>
              <a:rPr lang="en-US" sz="1200">
                <a:solidFill>
                  <a:schemeClr val="dk1"/>
                </a:solidFill>
                <a:ea typeface="+mn-lt"/>
                <a:cs typeface="+mn-lt"/>
              </a:rPr>
              <a:t>Technology Knowhow : Moderate</a:t>
            </a:r>
            <a:endParaRPr lang="en-US" sz="1200" dirty="0">
              <a:solidFill>
                <a:schemeClr val="dk1"/>
              </a:solidFill>
              <a:ea typeface="+mn-lt"/>
              <a:cs typeface="+mn-lt"/>
            </a:endParaRPr>
          </a:p>
          <a:p>
            <a:endParaRPr lang="en-US" sz="1200" dirty="0">
              <a:solidFill>
                <a:schemeClr val="dk1"/>
              </a:solidFill>
              <a:ea typeface="+mn-lt"/>
              <a:cs typeface="+mn-lt"/>
            </a:endParaRPr>
          </a:p>
          <a:p>
            <a:endParaRPr lang="en-US" sz="1200" dirty="0">
              <a:solidFill>
                <a:schemeClr val="dk1"/>
              </a:solidFill>
              <a:ea typeface="+mn-lt"/>
              <a:cs typeface="+mn-lt"/>
            </a:endParaRPr>
          </a:p>
          <a:p>
            <a:r>
              <a:rPr lang="en-US" sz="1200">
                <a:solidFill>
                  <a:schemeClr val="dk1"/>
                </a:solidFill>
                <a:ea typeface="+mn-lt"/>
                <a:cs typeface="+mn-lt"/>
              </a:rPr>
              <a:t>Ama is a young woman who is passionate about maintaining healthy natural hair. Over the years, she has experimented with various hair products, styles, and growth methods but often feels overwhelmed by conflicting advice found online and on social media. She wants a reliable, personalized solution that understands her specific hair type and growth goals.</a:t>
            </a:r>
            <a:endParaRPr lang="en-US">
              <a:solidFill>
                <a:schemeClr val="dk1"/>
              </a:solidFill>
              <a:ea typeface="+mn-lt"/>
              <a:cs typeface="+mn-lt"/>
            </a:endParaRPr>
          </a:p>
          <a:p>
            <a:endParaRPr lang="en-US" sz="1200" dirty="0">
              <a:solidFill>
                <a:schemeClr val="dk1"/>
              </a:solidFill>
              <a:latin typeface="Calibri"/>
              <a:ea typeface="+mn-lt"/>
              <a:cs typeface="+mn-lt"/>
            </a:endParaRPr>
          </a:p>
          <a:p>
            <a:endParaRPr lang="en-US" sz="1200" dirty="0">
              <a:solidFill>
                <a:schemeClr val="dk1"/>
              </a:solidFill>
              <a:latin typeface="Baskerville Old Face"/>
              <a:ea typeface="+mn-lt"/>
              <a:cs typeface="+mn-lt"/>
            </a:endParaRPr>
          </a:p>
          <a:p>
            <a:endParaRPr lang="en-US" sz="1200" b="1">
              <a:solidFill>
                <a:srgbClr val="F9FAFB"/>
              </a:solidFill>
              <a:highlight>
                <a:srgbClr val="151517"/>
              </a:highlight>
              <a:latin typeface="Calibri"/>
              <a:ea typeface="Calibri"/>
              <a:cs typeface="Calibri"/>
            </a:endParaRPr>
          </a:p>
          <a:p>
            <a:endParaRPr lang="en-US" sz="1200">
              <a:solidFill>
                <a:srgbClr val="000000"/>
              </a:solidFill>
              <a:latin typeface="Calibri"/>
              <a:ea typeface="Calibri"/>
              <a:cs typeface="Calibri"/>
            </a:endParaRPr>
          </a:p>
          <a:p>
            <a:endParaRPr lang="en-US" sz="1200">
              <a:solidFill>
                <a:srgbClr val="000000"/>
              </a:solidFill>
              <a:latin typeface="Calibri"/>
              <a:ea typeface="Calibri"/>
              <a:cs typeface="Calibri"/>
            </a:endParaRPr>
          </a:p>
          <a:p>
            <a:endParaRPr lang="en-US" sz="1200">
              <a:solidFill>
                <a:srgbClr val="000000"/>
              </a:solidFill>
              <a:latin typeface="Calibri"/>
              <a:ea typeface="Calibri"/>
              <a:cs typeface="Calibri"/>
            </a:endParaRPr>
          </a:p>
          <a:p>
            <a:pPr marL="285750" indent="-285750">
              <a:buFont typeface="Arial"/>
              <a:buChar char="•"/>
            </a:pPr>
            <a:endParaRPr lang="en-US" sz="1200">
              <a:solidFill>
                <a:srgbClr val="F9FAFB"/>
              </a:solidFill>
              <a:highlight>
                <a:srgbClr val="151517"/>
              </a:highlight>
              <a:latin typeface="Calibri"/>
              <a:ea typeface="Calibri"/>
              <a:cs typeface="Calibri"/>
            </a:endParaRPr>
          </a:p>
          <a:p>
            <a:endParaRPr lang="en-US" sz="1200">
              <a:solidFill>
                <a:srgbClr val="000000"/>
              </a:solidFill>
              <a:latin typeface="Calibri"/>
              <a:ea typeface="Calibri"/>
              <a:cs typeface="Calibri"/>
            </a:endParaRPr>
          </a:p>
          <a:p>
            <a:endParaRPr lang="en-US" sz="1200">
              <a:solidFill>
                <a:schemeClr val="dk1"/>
              </a:solidFill>
              <a:latin typeface="Calibri"/>
              <a:ea typeface="Calibri"/>
              <a:cs typeface="Calibri"/>
            </a:endParaRPr>
          </a:p>
          <a:p>
            <a:endParaRPr lang="en-US" sz="1200">
              <a:solidFill>
                <a:schemeClr val="dk1"/>
              </a:solidFill>
              <a:latin typeface="Calibri"/>
              <a:ea typeface="Calibri"/>
              <a:cs typeface="Calibri"/>
            </a:endParaRPr>
          </a:p>
          <a:p>
            <a:endParaRPr lang="en-US" sz="1200">
              <a:solidFill>
                <a:schemeClr val="dk1"/>
              </a:solidFill>
              <a:latin typeface="Calibri"/>
              <a:ea typeface="Calibri"/>
              <a:cs typeface="Calibri"/>
            </a:endParaRPr>
          </a:p>
          <a:p>
            <a:endParaRPr lang="en-US" sz="1200">
              <a:solidFill>
                <a:schemeClr val="dk1"/>
              </a:solidFill>
              <a:latin typeface="Calibri"/>
              <a:ea typeface="Calibri"/>
              <a:cs typeface="Calibri"/>
            </a:endParaRPr>
          </a:p>
        </p:txBody>
      </p:sp>
      <p:sp>
        <p:nvSpPr>
          <p:cNvPr id="27" name="Google Shape;134;p26">
            <a:extLst>
              <a:ext uri="{FF2B5EF4-FFF2-40B4-BE49-F238E27FC236}">
                <a16:creationId xmlns:a16="http://schemas.microsoft.com/office/drawing/2014/main" id="{7FCFFFAA-E5F2-46D8-8DAA-857512D7D290}"/>
              </a:ext>
            </a:extLst>
          </p:cNvPr>
          <p:cNvSpPr txBox="1"/>
          <p:nvPr/>
        </p:nvSpPr>
        <p:spPr>
          <a:xfrm>
            <a:off x="3031423" y="1400303"/>
            <a:ext cx="2127752" cy="4669903"/>
          </a:xfrm>
          <a:prstGeom prst="rect">
            <a:avLst/>
          </a:prstGeom>
          <a:noFill/>
          <a:ln>
            <a:noFill/>
          </a:ln>
        </p:spPr>
        <p:txBody>
          <a:bodyPr spcFirstLastPara="1" wrap="square" lIns="91425" tIns="45700" rIns="91425" bIns="45700" anchor="t" anchorCtr="0">
            <a:noAutofit/>
          </a:bodyPr>
          <a:lstStyle/>
          <a:p>
            <a:r>
              <a:rPr lang="en-US" sz="1400">
                <a:solidFill>
                  <a:schemeClr val="dk1"/>
                </a:solidFill>
                <a:latin typeface="Calibri"/>
                <a:ea typeface="Calibri"/>
                <a:cs typeface="Calibri"/>
                <a:sym typeface="Calibri"/>
              </a:rPr>
              <a:t>PROBLEM:</a:t>
            </a:r>
            <a:endParaRPr lang="en-US" sz="1400">
              <a:solidFill>
                <a:schemeClr val="dk1"/>
              </a:solidFill>
              <a:latin typeface="Calibri"/>
              <a:ea typeface="Calibri"/>
              <a:cs typeface="Calibri"/>
            </a:endParaRPr>
          </a:p>
          <a:p>
            <a:endParaRPr lang="en-US" sz="1200" b="1" dirty="0">
              <a:solidFill>
                <a:schemeClr val="dk1"/>
              </a:solidFill>
              <a:latin typeface="Times New Roman"/>
              <a:ea typeface="Calibri"/>
              <a:cs typeface="Times New Roman"/>
            </a:endParaRPr>
          </a:p>
          <a:p>
            <a:r>
              <a:rPr lang="en-US" sz="1400" b="1"/>
              <a:t>End Users </a:t>
            </a:r>
            <a:endParaRPr lang="en-US">
              <a:solidFill>
                <a:schemeClr val="dk1"/>
              </a:solidFill>
              <a:ea typeface="+mn-lt"/>
              <a:cs typeface="+mn-lt"/>
            </a:endParaRPr>
          </a:p>
          <a:p>
            <a:pPr marL="171450" indent="-171450">
              <a:buFont typeface="Arial"/>
              <a:buChar char="•"/>
            </a:pPr>
            <a:r>
              <a:rPr lang="en-US" sz="1200">
                <a:solidFill>
                  <a:schemeClr val="dk1"/>
                </a:solidFill>
                <a:ea typeface="+mn-lt"/>
                <a:cs typeface="+mn-lt"/>
              </a:rPr>
              <a:t>Difficulty understanding their specific hair type and needs</a:t>
            </a:r>
            <a:endParaRPr lang="en-US">
              <a:solidFill>
                <a:schemeClr val="dk1"/>
              </a:solidFill>
              <a:ea typeface="+mn-lt"/>
              <a:cs typeface="+mn-lt"/>
            </a:endParaRPr>
          </a:p>
          <a:p>
            <a:pPr marL="285750" indent="-285750">
              <a:buFont typeface="Arial"/>
              <a:buChar char="•"/>
            </a:pPr>
            <a:r>
              <a:rPr lang="en-US" sz="1200">
                <a:solidFill>
                  <a:schemeClr val="dk1"/>
                </a:solidFill>
                <a:ea typeface="+mn-lt"/>
                <a:cs typeface="+mn-lt"/>
              </a:rPr>
              <a:t>Use of unsuitable products and damaging hair practices</a:t>
            </a:r>
            <a:endParaRPr lang="en-US">
              <a:solidFill>
                <a:schemeClr val="dk1"/>
              </a:solidFill>
              <a:ea typeface="+mn-lt"/>
              <a:cs typeface="+mn-lt"/>
            </a:endParaRPr>
          </a:p>
          <a:p>
            <a:pPr marL="285750" indent="-285750">
              <a:buFont typeface="Arial"/>
              <a:buChar char="•"/>
            </a:pPr>
            <a:r>
              <a:rPr lang="en-US" sz="1200">
                <a:solidFill>
                  <a:schemeClr val="dk1"/>
                </a:solidFill>
                <a:ea typeface="+mn-lt"/>
                <a:cs typeface="+mn-lt"/>
              </a:rPr>
              <a:t>Lack of personalized guidance and progress tracking</a:t>
            </a:r>
            <a:endParaRPr lang="en-US">
              <a:solidFill>
                <a:schemeClr val="dk1"/>
              </a:solidFill>
              <a:ea typeface="+mn-lt"/>
              <a:cs typeface="+mn-lt"/>
            </a:endParaRPr>
          </a:p>
          <a:p>
            <a:endParaRPr lang="en-US" sz="1200" b="1" dirty="0">
              <a:solidFill>
                <a:schemeClr val="dk1"/>
              </a:solidFill>
              <a:latin typeface="Times New Roman"/>
              <a:ea typeface="+mn-lt"/>
              <a:cs typeface="Times New Roman"/>
            </a:endParaRPr>
          </a:p>
          <a:p>
            <a:endParaRPr lang="en-US" sz="1200">
              <a:solidFill>
                <a:srgbClr val="000000"/>
              </a:solidFill>
              <a:ea typeface="+mn-lt"/>
              <a:cs typeface="+mn-lt"/>
            </a:endParaRPr>
          </a:p>
          <a:p>
            <a:endParaRPr lang="en-US" sz="1200">
              <a:solidFill>
                <a:srgbClr val="000000"/>
              </a:solidFill>
              <a:ea typeface="+mn-lt"/>
              <a:cs typeface="+mn-lt"/>
            </a:endParaRPr>
          </a:p>
          <a:p>
            <a:r>
              <a:rPr lang="en-US" sz="1200" b="1">
                <a:solidFill>
                  <a:srgbClr val="F9FAFB"/>
                </a:solidFill>
                <a:ea typeface="+mn-lt"/>
                <a:cs typeface="+mn-lt"/>
              </a:rPr>
              <a:t>A</a:t>
            </a:r>
            <a:endParaRPr lang="en-US">
              <a:ea typeface="Calibri" panose="020F0502020204030204"/>
              <a:cs typeface="Calibri" panose="020F0502020204030204"/>
            </a:endParaRPr>
          </a:p>
          <a:p>
            <a:br>
              <a:rPr lang="en-US" dirty="0"/>
            </a:br>
            <a:endParaRPr lang="en-US"/>
          </a:p>
          <a:p>
            <a:endParaRPr lang="en-US" sz="1200">
              <a:solidFill>
                <a:schemeClr val="dk1"/>
              </a:solidFill>
              <a:latin typeface="Calibri"/>
              <a:ea typeface="Calibri"/>
              <a:cs typeface="Calibri"/>
            </a:endParaRPr>
          </a:p>
        </p:txBody>
      </p:sp>
      <p:sp>
        <p:nvSpPr>
          <p:cNvPr id="29" name="Google Shape;135;p26">
            <a:extLst>
              <a:ext uri="{FF2B5EF4-FFF2-40B4-BE49-F238E27FC236}">
                <a16:creationId xmlns:a16="http://schemas.microsoft.com/office/drawing/2014/main" id="{663C807B-3501-4A1A-B45B-BCE89ED53D86}"/>
              </a:ext>
            </a:extLst>
          </p:cNvPr>
          <p:cNvSpPr txBox="1"/>
          <p:nvPr/>
        </p:nvSpPr>
        <p:spPr>
          <a:xfrm>
            <a:off x="9019749" y="977504"/>
            <a:ext cx="2488855" cy="5072136"/>
          </a:xfrm>
          <a:prstGeom prst="rect">
            <a:avLst/>
          </a:prstGeom>
          <a:noFill/>
          <a:ln>
            <a:noFill/>
          </a:ln>
        </p:spPr>
        <p:txBody>
          <a:bodyPr spcFirstLastPara="1" wrap="square" lIns="91425" tIns="45700" rIns="91425" bIns="45700" anchor="t" anchorCtr="0">
            <a:noAutofit/>
          </a:bodyPr>
          <a:lstStyle/>
          <a:p>
            <a:r>
              <a:rPr lang="en-US" sz="1400">
                <a:solidFill>
                  <a:schemeClr val="dk1"/>
                </a:solidFill>
                <a:latin typeface="Calibri"/>
                <a:ea typeface="Calibri"/>
                <a:cs typeface="Calibri"/>
                <a:sym typeface="Calibri"/>
              </a:rPr>
              <a:t>FINISH</a:t>
            </a:r>
            <a:r>
              <a:rPr lang="en-US" sz="1200" i="1">
                <a:solidFill>
                  <a:schemeClr val="dk1"/>
                </a:solidFill>
                <a:latin typeface="Calibri"/>
                <a:ea typeface="Calibri"/>
                <a:cs typeface="Calibri"/>
                <a:sym typeface="Calibri"/>
              </a:rPr>
              <a:t>:</a:t>
            </a:r>
            <a:endParaRPr lang="en-US" sz="1000">
              <a:solidFill>
                <a:schemeClr val="dk1"/>
              </a:solidFill>
              <a:latin typeface="Times New Roman"/>
              <a:ea typeface="Calibri"/>
              <a:cs typeface="Times New Roman"/>
              <a:sym typeface="Calibri"/>
            </a:endParaRPr>
          </a:p>
          <a:p>
            <a:endParaRPr lang="en-US" sz="1200" i="1" dirty="0">
              <a:solidFill>
                <a:schemeClr val="dk1"/>
              </a:solidFill>
              <a:ea typeface="+mn-lt"/>
              <a:cs typeface="+mn-lt"/>
              <a:sym typeface="Calibri"/>
            </a:endParaRPr>
          </a:p>
          <a:p>
            <a:pPr marL="285750" indent="-285750">
              <a:buFont typeface="Arial"/>
              <a:buChar char="•"/>
            </a:pPr>
            <a:r>
              <a:rPr lang="en-US" sz="1400" dirty="0">
                <a:solidFill>
                  <a:schemeClr val="dk1"/>
                </a:solidFill>
                <a:ea typeface="+mn-lt"/>
                <a:cs typeface="+mn-lt"/>
                <a:sym typeface="Calibri"/>
              </a:rPr>
              <a:t>End</a:t>
            </a:r>
            <a:r>
              <a:rPr lang="en-US" sz="1400" dirty="0">
                <a:solidFill>
                  <a:schemeClr val="dk1"/>
                </a:solidFill>
                <a:ea typeface="+mn-lt"/>
                <a:cs typeface="+mn-lt"/>
              </a:rPr>
              <a:t> users gain a clear understanding of their hair type and what practices work </a:t>
            </a:r>
            <a:r>
              <a:rPr lang="en-US" sz="1400">
                <a:solidFill>
                  <a:schemeClr val="dk1"/>
                </a:solidFill>
                <a:ea typeface="+mn-lt"/>
                <a:cs typeface="+mn-lt"/>
              </a:rPr>
              <a:t>best for them.</a:t>
            </a:r>
          </a:p>
          <a:p>
            <a:pPr marL="285750" indent="-285750">
              <a:buFont typeface="Arial"/>
              <a:buChar char="•"/>
            </a:pPr>
            <a:br>
              <a:rPr lang="en-US" sz="1400" dirty="0">
                <a:ea typeface="+mn-lt"/>
                <a:cs typeface="+mn-lt"/>
              </a:rPr>
            </a:br>
            <a:r>
              <a:rPr lang="en-US" sz="1400" dirty="0">
                <a:solidFill>
                  <a:schemeClr val="dk1"/>
                </a:solidFill>
                <a:ea typeface="+mn-lt"/>
                <a:cs typeface="+mn-lt"/>
              </a:rPr>
              <a:t> They are able to follow consistent, personalized routines instead of relying on guesswork or conflicting online advice.</a:t>
            </a:r>
            <a:endParaRPr lang="en-US" dirty="0">
              <a:solidFill>
                <a:schemeClr val="dk1"/>
              </a:solidFill>
              <a:ea typeface="+mn-lt"/>
              <a:cs typeface="+mn-lt"/>
            </a:endParaRPr>
          </a:p>
          <a:p>
            <a:pPr marL="285750" indent="-285750">
              <a:buFont typeface="Arial"/>
              <a:buChar char="•"/>
            </a:pPr>
            <a:br>
              <a:rPr lang="en-US" sz="1400" dirty="0">
                <a:ea typeface="+mn-lt"/>
                <a:cs typeface="+mn-lt"/>
              </a:rPr>
            </a:br>
            <a:r>
              <a:rPr lang="en-US" sz="1400" dirty="0">
                <a:solidFill>
                  <a:schemeClr val="dk1"/>
                </a:solidFill>
                <a:ea typeface="+mn-lt"/>
                <a:cs typeface="+mn-lt"/>
              </a:rPr>
              <a:t> Over time, users experience healthier hair growth, reduced damage, better product choices, and improved confidence in managing their hair care journey.</a:t>
            </a:r>
            <a:endParaRPr lang="en-US">
              <a:solidFill>
                <a:schemeClr val="dk1"/>
              </a:solidFill>
              <a:ea typeface="Calibri"/>
              <a:cs typeface="Calibri"/>
            </a:endParaRPr>
          </a:p>
          <a:p>
            <a:endParaRPr lang="en-US" sz="1200" i="1">
              <a:solidFill>
                <a:schemeClr val="dk1"/>
              </a:solidFill>
              <a:ea typeface="Calibri"/>
              <a:cs typeface="Calibri"/>
            </a:endParaRPr>
          </a:p>
          <a:p>
            <a:endParaRPr lang="en-US" sz="1200" i="1">
              <a:solidFill>
                <a:schemeClr val="dk1"/>
              </a:solidFill>
              <a:latin typeface="Calibri"/>
              <a:ea typeface="Calibri"/>
              <a:cs typeface="Calibri"/>
            </a:endParaRPr>
          </a:p>
        </p:txBody>
      </p:sp>
    </p:spTree>
    <p:extLst>
      <p:ext uri="{BB962C8B-B14F-4D97-AF65-F5344CB8AC3E}">
        <p14:creationId xmlns:p14="http://schemas.microsoft.com/office/powerpoint/2010/main" val="3079242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C42002-6CD1-4A60-B873-4164CDE4C052}"/>
              </a:ext>
            </a:extLst>
          </p:cNvPr>
          <p:cNvSpPr>
            <a:spLocks noGrp="1"/>
          </p:cNvSpPr>
          <p:nvPr>
            <p:ph idx="1"/>
          </p:nvPr>
        </p:nvSpPr>
        <p:spPr>
          <a:xfrm>
            <a:off x="838200" y="1317625"/>
            <a:ext cx="10515600" cy="4921101"/>
          </a:xfrm>
        </p:spPr>
        <p:txBody>
          <a:bodyPr vert="horz" lIns="91440" tIns="45720" rIns="91440" bIns="45720" rtlCol="0" anchor="t">
            <a:noAutofit/>
          </a:bodyPr>
          <a:lstStyle/>
          <a:p>
            <a:r>
              <a:rPr lang="en-US" b="1" dirty="0"/>
              <a:t>User / Customer</a:t>
            </a:r>
            <a:endParaRPr lang="en-US" sz="1200" dirty="0">
              <a:latin typeface="Baskerville Old Face"/>
              <a:ea typeface="Calibri"/>
              <a:cs typeface="Arial"/>
            </a:endParaRPr>
          </a:p>
          <a:p>
            <a:r>
              <a:rPr lang="en-US" sz="1400" b="1" dirty="0">
                <a:ea typeface="+mn-lt"/>
                <a:cs typeface="+mn-lt"/>
              </a:rPr>
              <a:t>Business:</a:t>
            </a:r>
            <a:r>
              <a:rPr lang="en-US" sz="1400" dirty="0">
                <a:ea typeface="+mn-lt"/>
                <a:cs typeface="+mn-lt"/>
              </a:rPr>
              <a:t> ManeFlow – hair growth and hair care guidance application</a:t>
            </a:r>
            <a:endParaRPr lang="en-US" sz="1400">
              <a:ea typeface="Calibri"/>
              <a:cs typeface="Calibri"/>
            </a:endParaRPr>
          </a:p>
          <a:p>
            <a:r>
              <a:rPr lang="en-US" sz="1400" b="1" dirty="0">
                <a:ea typeface="+mn-lt"/>
                <a:cs typeface="+mn-lt"/>
              </a:rPr>
              <a:t>Services:</a:t>
            </a:r>
            <a:r>
              <a:rPr lang="en-US" sz="1400" dirty="0">
                <a:ea typeface="+mn-lt"/>
                <a:cs typeface="+mn-lt"/>
              </a:rPr>
              <a:t> Personalized hair care and growth recommendations for women and men</a:t>
            </a:r>
          </a:p>
          <a:p>
            <a:r>
              <a:rPr lang="en-US" sz="1400" b="1" dirty="0">
                <a:ea typeface="+mn-lt"/>
                <a:cs typeface="+mn-lt"/>
              </a:rPr>
              <a:t>End users:</a:t>
            </a:r>
            <a:r>
              <a:rPr lang="en-US" sz="1400" dirty="0">
                <a:ea typeface="+mn-lt"/>
                <a:cs typeface="+mn-lt"/>
              </a:rPr>
              <a:t> Individuals seeking healthy hair growth and proper hair care</a:t>
            </a:r>
          </a:p>
          <a:p>
            <a:r>
              <a:rPr lang="en-US" sz="1400" b="1" dirty="0">
                <a:ea typeface="+mn-lt"/>
                <a:cs typeface="+mn-lt"/>
              </a:rPr>
              <a:t>Hair focus:</a:t>
            </a:r>
            <a:r>
              <a:rPr lang="en-US" sz="1400" dirty="0">
                <a:ea typeface="+mn-lt"/>
                <a:cs typeface="+mn-lt"/>
              </a:rPr>
              <a:t> Natural hair care, scalp health, protective styles, and growth routines</a:t>
            </a:r>
            <a:endParaRPr lang="en-US" sz="1400" dirty="0"/>
          </a:p>
          <a:p>
            <a:endParaRPr lang="en-US" sz="1200" dirty="0"/>
          </a:p>
          <a:p>
            <a:endParaRPr lang="en-US" sz="1200" dirty="0"/>
          </a:p>
          <a:p>
            <a:r>
              <a:rPr lang="en-US" b="1" dirty="0"/>
              <a:t>User roles</a:t>
            </a:r>
            <a:endParaRPr lang="en-US" b="1" dirty="0">
              <a:ea typeface="Calibri"/>
              <a:cs typeface="Calibri"/>
            </a:endParaRPr>
          </a:p>
          <a:p>
            <a:r>
              <a:rPr lang="en-US" sz="1400" b="1">
                <a:ea typeface="+mn-lt"/>
                <a:cs typeface="+mn-lt"/>
              </a:rPr>
              <a:t>End users:</a:t>
            </a:r>
            <a:br>
              <a:rPr lang="en-US" sz="1400" b="1" dirty="0">
                <a:ea typeface="+mn-lt"/>
                <a:cs typeface="+mn-lt"/>
              </a:rPr>
            </a:br>
            <a:r>
              <a:rPr lang="en-US" sz="1400" dirty="0">
                <a:ea typeface="+mn-lt"/>
                <a:cs typeface="+mn-lt"/>
              </a:rPr>
              <a:t> They input their hair details, receive personalized hair care routines, growth tips, and product recommendations, and track their hair progress.</a:t>
            </a:r>
            <a:endParaRPr lang="en-US" sz="1400">
              <a:ea typeface="+mn-lt"/>
              <a:cs typeface="+mn-lt"/>
            </a:endParaRPr>
          </a:p>
          <a:p>
            <a:r>
              <a:rPr lang="en-US" sz="1400" b="1">
                <a:ea typeface="+mn-lt"/>
                <a:cs typeface="+mn-lt"/>
              </a:rPr>
              <a:t>Admin:</a:t>
            </a:r>
            <a:br>
              <a:rPr lang="en-US" sz="1400" b="1" dirty="0">
                <a:ea typeface="+mn-lt"/>
                <a:cs typeface="+mn-lt"/>
              </a:rPr>
            </a:br>
            <a:r>
              <a:rPr lang="en-US" sz="1400" b="1" dirty="0">
                <a:ea typeface="+mn-lt"/>
                <a:cs typeface="+mn-lt"/>
              </a:rPr>
              <a:t> </a:t>
            </a:r>
            <a:r>
              <a:rPr lang="en-US" sz="1400">
                <a:ea typeface="+mn-lt"/>
                <a:cs typeface="+mn-lt"/>
              </a:rPr>
              <a:t>Manages the platform, updates hair care content, and oversees system operations.</a:t>
            </a:r>
          </a:p>
          <a:p>
            <a:endParaRPr lang="en-US" sz="1200" dirty="0">
              <a:latin typeface="Times New Roman"/>
              <a:ea typeface="Calibri"/>
              <a:cs typeface="Times New Roman"/>
            </a:endParaRPr>
          </a:p>
          <a:p>
            <a:endParaRPr lang="en-US"/>
          </a:p>
          <a:p>
            <a:endParaRPr lang="en-US" sz="2000">
              <a:latin typeface="Baskerville Old Face"/>
              <a:ea typeface="Calibri"/>
              <a:cs typeface="Arial"/>
            </a:endParaRPr>
          </a:p>
          <a:p>
            <a:endParaRPr lang="en-US" sz="2000">
              <a:latin typeface="Baskerville Old Face"/>
              <a:ea typeface="Calibri"/>
              <a:cs typeface="Arial"/>
            </a:endParaRPr>
          </a:p>
          <a:p>
            <a:pPr marL="0" indent="0">
              <a:buNone/>
            </a:pPr>
            <a:endParaRPr lang="en-US" sz="2000">
              <a:latin typeface="Baskerville Old Face"/>
              <a:ea typeface="Calibri"/>
              <a:cs typeface="Arial"/>
            </a:endParaRPr>
          </a:p>
          <a:p>
            <a:endParaRPr lang="en-US" sz="2000">
              <a:latin typeface="Baskerville Old Face"/>
              <a:ea typeface="Calibri"/>
              <a:cs typeface="Arial"/>
            </a:endParaRPr>
          </a:p>
          <a:p>
            <a:pPr marL="0" indent="0">
              <a:buNone/>
            </a:pPr>
            <a:r>
              <a:rPr lang="en-US" sz="2000" dirty="0">
                <a:latin typeface="Baskerville Old Face"/>
                <a:ea typeface="Calibri"/>
                <a:cs typeface="Arial"/>
              </a:rPr>
              <a:t>                                                                                                                                                                                    </a:t>
            </a:r>
          </a:p>
        </p:txBody>
      </p:sp>
    </p:spTree>
    <p:extLst>
      <p:ext uri="{BB962C8B-B14F-4D97-AF65-F5344CB8AC3E}">
        <p14:creationId xmlns:p14="http://schemas.microsoft.com/office/powerpoint/2010/main" val="2113497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730D1-743D-4000-9929-9878F282E703}"/>
              </a:ext>
            </a:extLst>
          </p:cNvPr>
          <p:cNvSpPr>
            <a:spLocks noGrp="1"/>
          </p:cNvSpPr>
          <p:nvPr>
            <p:ph type="title"/>
          </p:nvPr>
        </p:nvSpPr>
        <p:spPr/>
        <p:txBody>
          <a:bodyPr/>
          <a:lstStyle/>
          <a:p>
            <a:r>
              <a:rPr lang="en-US"/>
              <a:t>Main Functions of the Website</a:t>
            </a:r>
          </a:p>
        </p:txBody>
      </p:sp>
      <p:sp>
        <p:nvSpPr>
          <p:cNvPr id="3" name="Content Placeholder 2">
            <a:extLst>
              <a:ext uri="{FF2B5EF4-FFF2-40B4-BE49-F238E27FC236}">
                <a16:creationId xmlns:a16="http://schemas.microsoft.com/office/drawing/2014/main" id="{9F74E113-BC91-4D17-8467-AD7ACB6061A4}"/>
              </a:ext>
            </a:extLst>
          </p:cNvPr>
          <p:cNvSpPr>
            <a:spLocks noGrp="1"/>
          </p:cNvSpPr>
          <p:nvPr>
            <p:ph idx="1"/>
          </p:nvPr>
        </p:nvSpPr>
        <p:spPr>
          <a:xfrm>
            <a:off x="838200" y="1825625"/>
            <a:ext cx="10515600" cy="4520829"/>
          </a:xfrm>
        </p:spPr>
        <p:txBody>
          <a:bodyPr vert="horz" lIns="91440" tIns="45720" rIns="91440" bIns="45720" rtlCol="0" anchor="t">
            <a:normAutofit fontScale="85000" lnSpcReduction="20000"/>
          </a:bodyPr>
          <a:lstStyle/>
          <a:p>
            <a:r>
              <a:rPr lang="en-US" b="1">
                <a:ea typeface="+mn-lt"/>
                <a:cs typeface="+mn-lt"/>
              </a:rPr>
              <a:t>Hair Profiling:</a:t>
            </a:r>
            <a:br>
              <a:rPr lang="en-US" b="1" dirty="0">
                <a:ea typeface="+mn-lt"/>
                <a:cs typeface="+mn-lt"/>
              </a:rPr>
            </a:br>
            <a:r>
              <a:rPr lang="en-US" b="1" dirty="0">
                <a:ea typeface="+mn-lt"/>
                <a:cs typeface="+mn-lt"/>
              </a:rPr>
              <a:t> </a:t>
            </a:r>
            <a:r>
              <a:rPr lang="en-US">
                <a:ea typeface="+mn-lt"/>
                <a:cs typeface="+mn-lt"/>
              </a:rPr>
              <a:t>Allows users to input their hair characteristics such as hair type, scalp condition, and growth goals.</a:t>
            </a:r>
            <a:endParaRPr lang="en-US"/>
          </a:p>
          <a:p>
            <a:r>
              <a:rPr lang="en-US" b="1">
                <a:ea typeface="+mn-lt"/>
                <a:cs typeface="+mn-lt"/>
              </a:rPr>
              <a:t>Personalized Hair Care Routines:</a:t>
            </a:r>
            <a:br>
              <a:rPr lang="en-US" b="1" dirty="0">
                <a:ea typeface="+mn-lt"/>
                <a:cs typeface="+mn-lt"/>
              </a:rPr>
            </a:br>
            <a:r>
              <a:rPr lang="en-US">
                <a:ea typeface="+mn-lt"/>
                <a:cs typeface="+mn-lt"/>
              </a:rPr>
              <a:t> Generates customized hair care and growth routines based on user inputs.</a:t>
            </a:r>
            <a:endParaRPr lang="en-US"/>
          </a:p>
          <a:p>
            <a:r>
              <a:rPr lang="en-US" b="1">
                <a:ea typeface="+mn-lt"/>
                <a:cs typeface="+mn-lt"/>
              </a:rPr>
              <a:t>Product Recommendations:</a:t>
            </a:r>
            <a:br>
              <a:rPr lang="en-US" b="1" dirty="0">
                <a:ea typeface="+mn-lt"/>
                <a:cs typeface="+mn-lt"/>
              </a:rPr>
            </a:br>
            <a:r>
              <a:rPr lang="en-US">
                <a:ea typeface="+mn-lt"/>
                <a:cs typeface="+mn-lt"/>
              </a:rPr>
              <a:t> Suggests suitable hair care products aligned with the user’s hair type and routine.</a:t>
            </a:r>
          </a:p>
          <a:p>
            <a:r>
              <a:rPr lang="en-US" b="1">
                <a:ea typeface="+mn-lt"/>
                <a:cs typeface="+mn-lt"/>
              </a:rPr>
              <a:t>Hair Growth Tracking:</a:t>
            </a:r>
            <a:br>
              <a:rPr lang="en-US" b="1" dirty="0">
                <a:ea typeface="+mn-lt"/>
                <a:cs typeface="+mn-lt"/>
              </a:rPr>
            </a:br>
            <a:r>
              <a:rPr lang="en-US">
                <a:ea typeface="+mn-lt"/>
                <a:cs typeface="+mn-lt"/>
              </a:rPr>
              <a:t> Enables users to monitor hair length, health, and progress over time.</a:t>
            </a:r>
          </a:p>
          <a:p>
            <a:r>
              <a:rPr lang="en-US" b="1">
                <a:ea typeface="+mn-lt"/>
                <a:cs typeface="+mn-lt"/>
              </a:rPr>
              <a:t>Educational Hair Content:</a:t>
            </a:r>
            <a:br>
              <a:rPr lang="en-US" b="1" dirty="0">
                <a:ea typeface="+mn-lt"/>
                <a:cs typeface="+mn-lt"/>
              </a:rPr>
            </a:br>
            <a:r>
              <a:rPr lang="en-US" b="1" dirty="0">
                <a:ea typeface="+mn-lt"/>
                <a:cs typeface="+mn-lt"/>
              </a:rPr>
              <a:t> </a:t>
            </a:r>
            <a:r>
              <a:rPr lang="en-US">
                <a:ea typeface="+mn-lt"/>
                <a:cs typeface="+mn-lt"/>
              </a:rPr>
              <a:t>Provides reliable information on hair types, growth methods, and best practices.</a:t>
            </a:r>
            <a:endParaRPr lang="en-US"/>
          </a:p>
          <a:p>
            <a:r>
              <a:rPr lang="en-US" b="1">
                <a:ea typeface="+mn-lt"/>
                <a:cs typeface="+mn-lt"/>
              </a:rPr>
              <a:t>Expert Content Management:</a:t>
            </a:r>
            <a:br>
              <a:rPr lang="en-US" b="1" dirty="0">
                <a:ea typeface="+mn-lt"/>
                <a:cs typeface="+mn-lt"/>
              </a:rPr>
            </a:br>
            <a:r>
              <a:rPr lang="en-US">
                <a:ea typeface="+mn-lt"/>
                <a:cs typeface="+mn-lt"/>
              </a:rPr>
              <a:t> Allows admins to add, update, and manage hair care guidance.</a:t>
            </a:r>
            <a:r>
              <a:rPr lang="en-US" dirty="0">
                <a:latin typeface="Baskerville Old Face"/>
              </a:rPr>
              <a:t>                                                                                                                         </a:t>
            </a:r>
            <a:endParaRPr lang="en-US" dirty="0">
              <a:latin typeface="Baskerville Old Face"/>
              <a:ea typeface="Calibri"/>
              <a:cs typeface="Calibri"/>
            </a:endParaRPr>
          </a:p>
          <a:p>
            <a:pPr>
              <a:buAutoNum type="arabicPeriod"/>
            </a:pPr>
            <a:endParaRPr lang="en-US">
              <a:latin typeface="Baskerville Old Face"/>
              <a:ea typeface="Calibri"/>
              <a:cs typeface="Calibri"/>
            </a:endParaRPr>
          </a:p>
          <a:p>
            <a:pPr marL="0" indent="0">
              <a:buNone/>
            </a:pPr>
            <a:endParaRPr lang="en-US">
              <a:latin typeface="Baskerville Old Face"/>
              <a:ea typeface="Calibri"/>
              <a:cs typeface="Calibri"/>
            </a:endParaRPr>
          </a:p>
        </p:txBody>
      </p:sp>
    </p:spTree>
    <p:extLst>
      <p:ext uri="{BB962C8B-B14F-4D97-AF65-F5344CB8AC3E}">
        <p14:creationId xmlns:p14="http://schemas.microsoft.com/office/powerpoint/2010/main" val="3537379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0FA18-7093-430E-BD23-BCEBC00BC538}"/>
              </a:ext>
            </a:extLst>
          </p:cNvPr>
          <p:cNvSpPr>
            <a:spLocks noGrp="1"/>
          </p:cNvSpPr>
          <p:nvPr>
            <p:ph type="title"/>
          </p:nvPr>
        </p:nvSpPr>
        <p:spPr/>
        <p:txBody>
          <a:bodyPr/>
          <a:lstStyle/>
          <a:p>
            <a:r>
              <a:rPr lang="en-US"/>
              <a:t>Architecture</a:t>
            </a:r>
          </a:p>
        </p:txBody>
      </p:sp>
      <p:graphicFrame>
        <p:nvGraphicFramePr>
          <p:cNvPr id="4" name="Content Placeholder 3">
            <a:extLst>
              <a:ext uri="{FF2B5EF4-FFF2-40B4-BE49-F238E27FC236}">
                <a16:creationId xmlns:a16="http://schemas.microsoft.com/office/drawing/2014/main" id="{354D4CA7-7669-120F-A8E8-F0B8825D985D}"/>
              </a:ext>
            </a:extLst>
          </p:cNvPr>
          <p:cNvGraphicFramePr>
            <a:graphicFrameLocks noGrp="1"/>
          </p:cNvGraphicFramePr>
          <p:nvPr>
            <p:ph idx="1"/>
            <p:extLst>
              <p:ext uri="{D42A27DB-BD31-4B8C-83A1-F6EECF244321}">
                <p14:modId xmlns:p14="http://schemas.microsoft.com/office/powerpoint/2010/main" val="229851881"/>
              </p:ext>
            </p:extLst>
          </p:nvPr>
        </p:nvGraphicFramePr>
        <p:xfrm>
          <a:off x="823951" y="1759414"/>
          <a:ext cx="10531473" cy="4361143"/>
        </p:xfrm>
        <a:graphic>
          <a:graphicData uri="http://schemas.openxmlformats.org/drawingml/2006/table">
            <a:tbl>
              <a:tblPr firstRow="1" bandRow="1">
                <a:tableStyleId>{5C22544A-7EE6-4342-B048-85BDC9FD1C3A}</a:tableStyleId>
              </a:tblPr>
              <a:tblGrid>
                <a:gridCol w="3513671">
                  <a:extLst>
                    <a:ext uri="{9D8B030D-6E8A-4147-A177-3AD203B41FA5}">
                      <a16:colId xmlns:a16="http://schemas.microsoft.com/office/drawing/2014/main" val="240544135"/>
                    </a:ext>
                  </a:extLst>
                </a:gridCol>
                <a:gridCol w="3507312">
                  <a:extLst>
                    <a:ext uri="{9D8B030D-6E8A-4147-A177-3AD203B41FA5}">
                      <a16:colId xmlns:a16="http://schemas.microsoft.com/office/drawing/2014/main" val="3670123635"/>
                    </a:ext>
                  </a:extLst>
                </a:gridCol>
                <a:gridCol w="3510490">
                  <a:extLst>
                    <a:ext uri="{9D8B030D-6E8A-4147-A177-3AD203B41FA5}">
                      <a16:colId xmlns:a16="http://schemas.microsoft.com/office/drawing/2014/main" val="3715433402"/>
                    </a:ext>
                  </a:extLst>
                </a:gridCol>
              </a:tblGrid>
              <a:tr h="4361143">
                <a:tc>
                  <a:txBody>
                    <a:bodyPr/>
                    <a:lstStyle/>
                    <a:p>
                      <a:r>
                        <a:rPr lang="en-US" dirty="0"/>
                        <a:t>PRESENTATION TIER</a:t>
                      </a:r>
                    </a:p>
                    <a:p>
                      <a:pPr lvl="0">
                        <a:buNone/>
                      </a:pPr>
                      <a:endParaRPr lang="en-US"/>
                    </a:p>
                    <a:p>
                      <a:pPr lvl="0">
                        <a:buNone/>
                      </a:pPr>
                      <a:endParaRPr lang="en-US"/>
                    </a:p>
                    <a:p>
                      <a:pPr marL="0" lvl="0" indent="0" algn="l">
                        <a:lnSpc>
                          <a:spcPct val="100000"/>
                        </a:lnSpc>
                        <a:spcBef>
                          <a:spcPts val="0"/>
                        </a:spcBef>
                        <a:spcAft>
                          <a:spcPts val="0"/>
                        </a:spcAft>
                        <a:buFont typeface="Arial"/>
                        <a:buChar char="•"/>
                      </a:pPr>
                      <a:r>
                        <a:rPr lang="en-US" sz="1800" b="0" i="0" u="none" strike="noStrike" noProof="0">
                          <a:latin typeface="Calibri"/>
                        </a:rPr>
                        <a:t>CSS</a:t>
                      </a:r>
                    </a:p>
                    <a:p>
                      <a:pPr marL="0" lvl="0" indent="0" algn="l">
                        <a:lnSpc>
                          <a:spcPct val="100000"/>
                        </a:lnSpc>
                        <a:spcBef>
                          <a:spcPts val="0"/>
                        </a:spcBef>
                        <a:spcAft>
                          <a:spcPts val="0"/>
                        </a:spcAft>
                        <a:buFont typeface="Arial"/>
                        <a:buChar char="•"/>
                      </a:pPr>
                      <a:r>
                        <a:rPr lang="en-US" sz="1800" b="0" i="0" u="none" strike="noStrike" noProof="0">
                          <a:latin typeface="Calibri"/>
                        </a:rPr>
                        <a:t>JavaScript</a:t>
                      </a:r>
                      <a:endParaRPr lang="en-US"/>
                    </a:p>
                    <a:p>
                      <a:pPr marL="0" lvl="0" indent="0" algn="l">
                        <a:lnSpc>
                          <a:spcPct val="100000"/>
                        </a:lnSpc>
                        <a:spcBef>
                          <a:spcPts val="0"/>
                        </a:spcBef>
                        <a:spcAft>
                          <a:spcPts val="0"/>
                        </a:spcAft>
                        <a:buFont typeface="Arial"/>
                        <a:buChar char="•"/>
                      </a:pPr>
                      <a:endParaRPr lang="en-US" sz="1800" b="0" i="0" u="none" strike="noStrike" noProof="0" dirty="0">
                        <a:latin typeface="Calibri"/>
                      </a:endParaRPr>
                    </a:p>
                    <a:p>
                      <a:pPr marL="0" lvl="0" indent="0" algn="l">
                        <a:lnSpc>
                          <a:spcPct val="100000"/>
                        </a:lnSpc>
                        <a:spcBef>
                          <a:spcPts val="0"/>
                        </a:spcBef>
                        <a:spcAft>
                          <a:spcPts val="0"/>
                        </a:spcAft>
                        <a:buFont typeface="Arial"/>
                        <a:buChar char="•"/>
                      </a:pPr>
                      <a:r>
                        <a:rPr lang="en-US" sz="1800" b="0" i="0" u="none" strike="noStrike" noProof="0" dirty="0">
                          <a:latin typeface="Calibri"/>
                        </a:rPr>
                        <a:t>Responsive user interface</a:t>
                      </a:r>
                    </a:p>
                    <a:p>
                      <a:pPr marL="0" lvl="0" indent="0" algn="l">
                        <a:lnSpc>
                          <a:spcPct val="100000"/>
                        </a:lnSpc>
                        <a:spcBef>
                          <a:spcPts val="0"/>
                        </a:spcBef>
                        <a:spcAft>
                          <a:spcPts val="0"/>
                        </a:spcAft>
                        <a:buFont typeface="Arial"/>
                        <a:buChar char="•"/>
                      </a:pPr>
                      <a:r>
                        <a:rPr lang="en-US" sz="1800" b="0" i="0" u="none" strike="noStrike" noProof="0" dirty="0">
                          <a:latin typeface="Calibri"/>
                        </a:rPr>
                        <a:t>Hair profile forms and routine display pages</a:t>
                      </a:r>
                      <a:endParaRPr lang="en-US" dirty="0"/>
                    </a:p>
                    <a:p>
                      <a:pPr marL="0" lvl="0" indent="0" algn="l">
                        <a:lnSpc>
                          <a:spcPct val="100000"/>
                        </a:lnSpc>
                        <a:spcBef>
                          <a:spcPts val="0"/>
                        </a:spcBef>
                        <a:spcAft>
                          <a:spcPts val="0"/>
                        </a:spcAft>
                        <a:buFont typeface="Arial"/>
                        <a:buChar char="•"/>
                      </a:pPr>
                      <a:r>
                        <a:rPr lang="en-US" sz="1800" b="0" i="0" u="none" strike="noStrike" noProof="0" dirty="0">
                          <a:latin typeface="Calibri"/>
                        </a:rPr>
                        <a:t>user-friendly design</a:t>
                      </a:r>
                      <a:endParaRPr lang="en-US" dirty="0"/>
                    </a:p>
                    <a:p>
                      <a:pPr marL="285750" lvl="0" indent="-285750">
                        <a:buFont typeface="Arial"/>
                        <a:buChar char="•"/>
                      </a:pPr>
                      <a:endParaRPr lang="en-US" dirty="0"/>
                    </a:p>
                  </a:txBody>
                  <a:tcPr/>
                </a:tc>
                <a:tc>
                  <a:txBody>
                    <a:bodyPr/>
                    <a:lstStyle/>
                    <a:p>
                      <a:r>
                        <a:rPr lang="en-US" dirty="0"/>
                        <a:t>APPLICATION TIER</a:t>
                      </a:r>
                    </a:p>
                    <a:p>
                      <a:pPr lvl="0">
                        <a:buNone/>
                      </a:pPr>
                      <a:endParaRPr lang="en-US"/>
                    </a:p>
                    <a:p>
                      <a:pPr marL="0" lvl="0" indent="0" algn="l">
                        <a:lnSpc>
                          <a:spcPct val="100000"/>
                        </a:lnSpc>
                        <a:spcBef>
                          <a:spcPts val="0"/>
                        </a:spcBef>
                        <a:spcAft>
                          <a:spcPts val="0"/>
                        </a:spcAft>
                        <a:buFont typeface="Arial"/>
                        <a:buChar char="•"/>
                      </a:pPr>
                      <a:r>
                        <a:rPr lang="en-US" sz="1800" b="0" i="0" u="none" strike="noStrike" noProof="0">
                          <a:latin typeface="Calibri"/>
                        </a:rPr>
                        <a:t>PHP</a:t>
                      </a:r>
                    </a:p>
                    <a:p>
                      <a:pPr marL="0" lvl="0" indent="0" algn="l">
                        <a:lnSpc>
                          <a:spcPct val="100000"/>
                        </a:lnSpc>
                        <a:spcBef>
                          <a:spcPts val="0"/>
                        </a:spcBef>
                        <a:spcAft>
                          <a:spcPts val="0"/>
                        </a:spcAft>
                        <a:buFont typeface="Arial"/>
                        <a:buChar char="•"/>
                      </a:pPr>
                      <a:r>
                        <a:rPr lang="en-US" sz="1800" b="0" i="0" u="none" strike="noStrike" noProof="0">
                          <a:latin typeface="Calibri"/>
                        </a:rPr>
                        <a:t>User authentication and session management</a:t>
                      </a:r>
                      <a:endParaRPr lang="en-US"/>
                    </a:p>
                    <a:p>
                      <a:pPr marL="0" lvl="0" indent="0" algn="l">
                        <a:lnSpc>
                          <a:spcPct val="100000"/>
                        </a:lnSpc>
                        <a:spcBef>
                          <a:spcPts val="0"/>
                        </a:spcBef>
                        <a:spcAft>
                          <a:spcPts val="0"/>
                        </a:spcAft>
                        <a:buFont typeface="Arial"/>
                        <a:buChar char="•"/>
                      </a:pPr>
                      <a:r>
                        <a:rPr lang="en-US" sz="1800" b="0" i="0" u="none" strike="noStrike" noProof="0">
                          <a:latin typeface="Calibri"/>
                        </a:rPr>
                        <a:t>Hair profiling and routine generation logic</a:t>
                      </a:r>
                      <a:endParaRPr lang="en-US"/>
                    </a:p>
                    <a:p>
                      <a:pPr marL="0" lvl="0" indent="0" algn="l">
                        <a:lnSpc>
                          <a:spcPct val="100000"/>
                        </a:lnSpc>
                        <a:spcBef>
                          <a:spcPts val="0"/>
                        </a:spcBef>
                        <a:spcAft>
                          <a:spcPts val="0"/>
                        </a:spcAft>
                        <a:buFont typeface="Arial"/>
                        <a:buChar char="•"/>
                      </a:pPr>
                      <a:r>
                        <a:rPr lang="en-US" sz="1800" b="0" i="0" u="none" strike="noStrike" noProof="0">
                          <a:latin typeface="Calibri"/>
                        </a:rPr>
                        <a:t>Recommendation and diagnosis logic</a:t>
                      </a:r>
                      <a:endParaRPr lang="en-US"/>
                    </a:p>
                    <a:p>
                      <a:pPr marL="0" lvl="0" indent="0" algn="l">
                        <a:lnSpc>
                          <a:spcPct val="100000"/>
                        </a:lnSpc>
                        <a:spcBef>
                          <a:spcPts val="0"/>
                        </a:spcBef>
                        <a:spcAft>
                          <a:spcPts val="0"/>
                        </a:spcAft>
                        <a:buFont typeface="Arial"/>
                        <a:buChar char="•"/>
                      </a:pPr>
                      <a:r>
                        <a:rPr lang="en-US" sz="1800" b="0" i="0" u="none" strike="noStrike" noProof="0">
                          <a:latin typeface="Calibri"/>
                        </a:rPr>
                        <a:t>Admin controls for managing content and data</a:t>
                      </a:r>
                      <a:endParaRPr lang="en-US"/>
                    </a:p>
                    <a:p>
                      <a:pPr marL="285750" lvl="0" indent="-285750">
                        <a:buFont typeface="Arial"/>
                        <a:buChar char="•"/>
                      </a:pPr>
                      <a:endParaRPr lang="en-US" dirty="0"/>
                    </a:p>
                  </a:txBody>
                  <a:tcPr/>
                </a:tc>
                <a:tc>
                  <a:txBody>
                    <a:bodyPr/>
                    <a:lstStyle/>
                    <a:p>
                      <a:r>
                        <a:rPr lang="en-US" dirty="0"/>
                        <a:t>DATA TIER</a:t>
                      </a:r>
                    </a:p>
                    <a:p>
                      <a:pPr lvl="0">
                        <a:buNone/>
                      </a:pPr>
                      <a:endParaRPr lang="en-US" dirty="0"/>
                    </a:p>
                    <a:p>
                      <a:pPr marL="0" lvl="0" indent="0" algn="l">
                        <a:lnSpc>
                          <a:spcPct val="100000"/>
                        </a:lnSpc>
                        <a:spcBef>
                          <a:spcPts val="0"/>
                        </a:spcBef>
                        <a:spcAft>
                          <a:spcPts val="0"/>
                        </a:spcAft>
                        <a:buNone/>
                      </a:pPr>
                      <a:r>
                        <a:rPr lang="en-US" sz="1800" b="0" i="0" u="none" strike="noStrike" noProof="0">
                          <a:latin typeface="Calibri"/>
                        </a:rPr>
                        <a:t>     MySQL Database</a:t>
                      </a:r>
                      <a:endParaRPr lang="en-US"/>
                    </a:p>
                    <a:p>
                      <a:pPr marL="0" lvl="0" indent="0" algn="l">
                        <a:lnSpc>
                          <a:spcPct val="100000"/>
                        </a:lnSpc>
                        <a:spcBef>
                          <a:spcPts val="0"/>
                        </a:spcBef>
                        <a:spcAft>
                          <a:spcPts val="0"/>
                        </a:spcAft>
                        <a:buNone/>
                      </a:pPr>
                      <a:endParaRPr lang="en-US" sz="1800" b="0" i="0" u="none" strike="noStrike" noProof="0" dirty="0">
                        <a:latin typeface="Calibri"/>
                      </a:endParaRPr>
                    </a:p>
                    <a:p>
                      <a:pPr marL="285750" lvl="0" indent="-285750" algn="l">
                        <a:lnSpc>
                          <a:spcPct val="100000"/>
                        </a:lnSpc>
                        <a:spcBef>
                          <a:spcPts val="0"/>
                        </a:spcBef>
                        <a:spcAft>
                          <a:spcPts val="0"/>
                        </a:spcAft>
                        <a:buFont typeface="Arial"/>
                        <a:buChar char="•"/>
                      </a:pPr>
                      <a:r>
                        <a:rPr lang="en-US" sz="1800" b="0" i="0" u="none" strike="noStrike" noProof="0" dirty="0">
                          <a:latin typeface="Calibri"/>
                        </a:rPr>
                        <a:t>Users tables</a:t>
                      </a:r>
                      <a:endParaRPr lang="en-US" dirty="0"/>
                    </a:p>
                    <a:p>
                      <a:pPr marL="285750" lvl="0" indent="-285750" algn="l">
                        <a:lnSpc>
                          <a:spcPct val="100000"/>
                        </a:lnSpc>
                        <a:spcBef>
                          <a:spcPts val="0"/>
                        </a:spcBef>
                        <a:spcAft>
                          <a:spcPts val="0"/>
                        </a:spcAft>
                        <a:buFont typeface="Arial"/>
                        <a:buChar char="•"/>
                      </a:pPr>
                      <a:r>
                        <a:rPr lang="en-US" sz="1800" b="0" i="0" u="none" strike="noStrike" noProof="0">
                          <a:latin typeface="Calibri"/>
                        </a:rPr>
                        <a:t>Hair profiles and concerns tables</a:t>
                      </a:r>
                      <a:endParaRPr lang="en-US"/>
                    </a:p>
                    <a:p>
                      <a:pPr marL="285750" lvl="0" indent="-285750" algn="l">
                        <a:lnSpc>
                          <a:spcPct val="100000"/>
                        </a:lnSpc>
                        <a:spcBef>
                          <a:spcPts val="0"/>
                        </a:spcBef>
                        <a:spcAft>
                          <a:spcPts val="0"/>
                        </a:spcAft>
                        <a:buFont typeface="Arial"/>
                        <a:buChar char="•"/>
                      </a:pPr>
                      <a:r>
                        <a:rPr lang="en-US" sz="1800" b="0" i="0" u="none" strike="noStrike" noProof="0">
                          <a:latin typeface="Calibri"/>
                        </a:rPr>
                        <a:t>Hair routines and routine steps tables</a:t>
                      </a:r>
                      <a:endParaRPr lang="en-US"/>
                    </a:p>
                    <a:p>
                      <a:pPr marL="285750" lvl="0" indent="-285750" algn="l">
                        <a:lnSpc>
                          <a:spcPct val="100000"/>
                        </a:lnSpc>
                        <a:spcBef>
                          <a:spcPts val="0"/>
                        </a:spcBef>
                        <a:spcAft>
                          <a:spcPts val="0"/>
                        </a:spcAft>
                        <a:buFont typeface="Arial"/>
                        <a:buChar char="•"/>
                      </a:pPr>
                      <a:r>
                        <a:rPr lang="en-US" sz="1800" b="0" i="0" u="none" strike="noStrike" noProof="0">
                          <a:latin typeface="Calibri"/>
                        </a:rPr>
                        <a:t>Products, growth methods, and protective styles tables</a:t>
                      </a:r>
                      <a:endParaRPr lang="en-US"/>
                    </a:p>
                    <a:p>
                      <a:pPr marL="285750" lvl="0" indent="-285750" algn="l">
                        <a:lnSpc>
                          <a:spcPct val="100000"/>
                        </a:lnSpc>
                        <a:spcBef>
                          <a:spcPts val="0"/>
                        </a:spcBef>
                        <a:spcAft>
                          <a:spcPts val="0"/>
                        </a:spcAft>
                        <a:buFont typeface="Arial"/>
                        <a:buChar char="•"/>
                      </a:pPr>
                      <a:r>
                        <a:rPr lang="en-US" sz="1800" b="0" i="0" u="none" strike="noStrike" noProof="0">
                          <a:latin typeface="Calibri"/>
                        </a:rPr>
                        <a:t>Progress tracking, diagnosis, and notification tables</a:t>
                      </a:r>
                      <a:endParaRPr lang="en-US"/>
                    </a:p>
                    <a:p>
                      <a:pPr lvl="0">
                        <a:buNone/>
                      </a:pPr>
                      <a:endParaRPr lang="en-US" dirty="0"/>
                    </a:p>
                    <a:p>
                      <a:pPr marL="285750" lvl="0" indent="-285750">
                        <a:buFont typeface="Arial"/>
                        <a:buChar char="•"/>
                      </a:pPr>
                      <a:endParaRPr lang="en-US" dirty="0"/>
                    </a:p>
                    <a:p>
                      <a:pPr lvl="0">
                        <a:buNone/>
                      </a:pPr>
                      <a:endParaRPr lang="en-US"/>
                    </a:p>
                  </a:txBody>
                  <a:tcPr/>
                </a:tc>
                <a:extLst>
                  <a:ext uri="{0D108BD9-81ED-4DB2-BD59-A6C34878D82A}">
                    <a16:rowId xmlns:a16="http://schemas.microsoft.com/office/drawing/2014/main" val="429181570"/>
                  </a:ext>
                </a:extLst>
              </a:tr>
            </a:tbl>
          </a:graphicData>
        </a:graphic>
      </p:graphicFrame>
      <p:pic>
        <p:nvPicPr>
          <p:cNvPr id="3" name="Picture 2" descr="A diagram of a company&#10;&#10;AI-generated content may be incorrect.">
            <a:extLst>
              <a:ext uri="{FF2B5EF4-FFF2-40B4-BE49-F238E27FC236}">
                <a16:creationId xmlns:a16="http://schemas.microsoft.com/office/drawing/2014/main" id="{35BD4002-674F-27EF-90B2-78525A9C87E6}"/>
              </a:ext>
            </a:extLst>
          </p:cNvPr>
          <p:cNvPicPr>
            <a:picLocks noChangeAspect="1"/>
          </p:cNvPicPr>
          <p:nvPr/>
        </p:nvPicPr>
        <p:blipFill>
          <a:blip r:embed="rId2"/>
          <a:stretch>
            <a:fillRect/>
          </a:stretch>
        </p:blipFill>
        <p:spPr>
          <a:xfrm>
            <a:off x="829401" y="1760112"/>
            <a:ext cx="10522467" cy="5097888"/>
          </a:xfrm>
          <a:prstGeom prst="rect">
            <a:avLst/>
          </a:prstGeom>
        </p:spPr>
      </p:pic>
    </p:spTree>
    <p:extLst>
      <p:ext uri="{BB962C8B-B14F-4D97-AF65-F5344CB8AC3E}">
        <p14:creationId xmlns:p14="http://schemas.microsoft.com/office/powerpoint/2010/main" val="2127009124"/>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923D41"/>
      </a:dk2>
      <a:lt2>
        <a:srgbClr val="AAC3EC"/>
      </a:lt2>
      <a:accent1>
        <a:srgbClr val="4472C4"/>
      </a:accent1>
      <a:accent2>
        <a:srgbClr val="C56728"/>
      </a:accent2>
      <a:accent3>
        <a:srgbClr val="A5A5A5"/>
      </a:accent3>
      <a:accent4>
        <a:srgbClr val="FFC000"/>
      </a:accent4>
      <a:accent5>
        <a:srgbClr val="5B9BD5"/>
      </a:accent5>
      <a:accent6>
        <a:srgbClr val="C09B74"/>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43679034-79EA-4C15-9A71-1EF1E1074EAF}" vid="{7FD254AA-BBEA-4868-8697-6021C48FEDDC}"/>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6</Slides>
  <Notes>0</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Joycelyn Allan</vt:lpstr>
      <vt:lpstr> </vt:lpstr>
      <vt:lpstr>PowerPoint Presentation</vt:lpstr>
      <vt:lpstr>PowerPoint Presentation</vt:lpstr>
      <vt:lpstr>Main Functions of the Website</vt:lpstr>
      <vt:lpstr>Architecture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&lt;Letter&gt;</dc:title>
  <dc:creator>Todd Warren</dc:creator>
  <cp:revision>137</cp:revision>
  <dcterms:created xsi:type="dcterms:W3CDTF">2020-09-23T20:07:55Z</dcterms:created>
  <dcterms:modified xsi:type="dcterms:W3CDTF">2025-12-18T22:05:03Z</dcterms:modified>
</cp:coreProperties>
</file>